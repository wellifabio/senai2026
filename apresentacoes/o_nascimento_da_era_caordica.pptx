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80" r:id="rId7"/>
    <p:sldId id="279" r:id="rId8"/>
    <p:sldId id="258" r:id="rId9"/>
    <p:sldId id="260" r:id="rId10"/>
    <p:sldId id="281" r:id="rId11"/>
    <p:sldId id="278" r:id="rId12"/>
    <p:sldId id="282" r:id="rId13"/>
    <p:sldId id="283" r:id="rId14"/>
    <p:sldId id="261" r:id="rId15"/>
    <p:sldId id="284" r:id="rId16"/>
    <p:sldId id="268" r:id="rId17"/>
    <p:sldId id="286" r:id="rId18"/>
    <p:sldId id="285" r:id="rId19"/>
    <p:sldId id="277" r:id="rId20"/>
    <p:sldId id="287" r:id="rId21"/>
  </p:sldIdLst>
  <p:sldSz cx="20104100" cy="11309350"/>
  <p:notesSz cx="20104100" cy="11309350"/>
  <p:embeddedFontLst>
    <p:embeddedFont>
      <p:font typeface="Helvetica" panose="020B0604020202020204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Montserrat ExtraBold" panose="00000900000000000000" pitchFamily="2" charset="0"/>
      <p:bold r:id="rId31"/>
      <p:boldItalic r:id="rId32"/>
    </p:embeddedFont>
    <p:embeddedFont>
      <p:font typeface="Montserrat Light" panose="00000400000000000000" pitchFamily="2" charset="0"/>
      <p:regular r:id="rId33"/>
      <p:italic r:id="rId3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E3ABB-C11A-BBD9-2802-532C104E159E}" v="1" dt="2022-01-25T14:55:06.476"/>
    <p1510:client id="{67B79760-9B19-EA06-B321-81BE3DC8DF22}" v="11" dt="2022-01-28T13:28:15.146"/>
    <p1510:client id="{E26C3A5A-D7F9-6D2D-9C24-7E05DE01AA21}" v="11" dt="2021-11-30T01:30:03.168"/>
    <p1510:client id="{E274CB7D-D5F6-CB88-97F7-1F9BAF23F222}" v="10" dt="2021-11-30T01:31:45.183"/>
    <p1510:client id="{E997C4D9-1869-CBC7-0693-58570764A1CA}" v="16" dt="2022-08-15T19:44:12.365"/>
    <p1510:client id="{F9CA789C-FA2B-ABC1-4746-E0D93CC19689}" v="1" dt="2022-01-26T14:38:05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450" autoAdjust="0"/>
  </p:normalViewPr>
  <p:slideViewPr>
    <p:cSldViewPr>
      <p:cViewPr varScale="1">
        <p:scale>
          <a:sx n="53" d="100"/>
          <a:sy n="53" d="100"/>
        </p:scale>
        <p:origin x="150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font" Target="fonts/font1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iguel Leal da Silva" userId="S::lucas.msilva@sp.senai.br::5c40faec-5f1f-47e9-a958-68edb761d629" providerId="AD" clId="Web-{E26C3A5A-D7F9-6D2D-9C24-7E05DE01AA21}"/>
    <pc:docChg chg="modSld">
      <pc:chgData name="Lucas Miguel Leal da Silva" userId="S::lucas.msilva@sp.senai.br::5c40faec-5f1f-47e9-a958-68edb761d629" providerId="AD" clId="Web-{E26C3A5A-D7F9-6D2D-9C24-7E05DE01AA21}" dt="2021-11-30T01:30:03.168" v="10" actId="1076"/>
      <pc:docMkLst>
        <pc:docMk/>
      </pc:docMkLst>
      <pc:sldChg chg="modSp">
        <pc:chgData name="Lucas Miguel Leal da Silva" userId="S::lucas.msilva@sp.senai.br::5c40faec-5f1f-47e9-a958-68edb761d629" providerId="AD" clId="Web-{E26C3A5A-D7F9-6D2D-9C24-7E05DE01AA21}" dt="2021-11-30T01:25:45.023" v="3" actId="1076"/>
        <pc:sldMkLst>
          <pc:docMk/>
          <pc:sldMk cId="0" sldId="256"/>
        </pc:sldMkLst>
        <pc:spChg chg="mod">
          <ac:chgData name="Lucas Miguel Leal da Silva" userId="S::lucas.msilva@sp.senai.br::5c40faec-5f1f-47e9-a958-68edb761d629" providerId="AD" clId="Web-{E26C3A5A-D7F9-6D2D-9C24-7E05DE01AA21}" dt="2021-11-30T01:25:45.023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Miguel Leal da Silva" userId="S::lucas.msilva@sp.senai.br::5c40faec-5f1f-47e9-a958-68edb761d629" providerId="AD" clId="Web-{E26C3A5A-D7F9-6D2D-9C24-7E05DE01AA21}" dt="2021-11-30T01:10:29.601" v="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ucas Miguel Leal da Silva" userId="S::lucas.msilva@sp.senai.br::5c40faec-5f1f-47e9-a958-68edb761d629" providerId="AD" clId="Web-{E26C3A5A-D7F9-6D2D-9C24-7E05DE01AA21}" dt="2021-11-30T01:29:48.168" v="5" actId="1076"/>
        <pc:sldMkLst>
          <pc:docMk/>
          <pc:sldMk cId="0" sldId="257"/>
        </pc:sldMkLst>
        <pc:spChg chg="mod">
          <ac:chgData name="Lucas Miguel Leal da Silva" userId="S::lucas.msilva@sp.senai.br::5c40faec-5f1f-47e9-a958-68edb761d629" providerId="AD" clId="Web-{E26C3A5A-D7F9-6D2D-9C24-7E05DE01AA21}" dt="2021-11-30T01:29:48.168" v="5" actId="107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6:18.805" v="4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">
        <pc:chgData name="Lucas Miguel Leal da Silva" userId="S::lucas.msilva@sp.senai.br::5c40faec-5f1f-47e9-a958-68edb761d629" providerId="AD" clId="Web-{E26C3A5A-D7F9-6D2D-9C24-7E05DE01AA21}" dt="2021-11-30T01:30:03.168" v="10" actId="1076"/>
        <pc:sldMkLst>
          <pc:docMk/>
          <pc:sldMk cId="0" sldId="258"/>
        </pc:sldMkLst>
        <pc:spChg chg="mod">
          <ac:chgData name="Lucas Miguel Leal da Silva" userId="S::lucas.msilva@sp.senai.br::5c40faec-5f1f-47e9-a958-68edb761d629" providerId="AD" clId="Web-{E26C3A5A-D7F9-6D2D-9C24-7E05DE01AA21}" dt="2021-11-30T01:30:03.168" v="10" actId="1076"/>
          <ac:spMkLst>
            <pc:docMk/>
            <pc:sldMk cId="0" sldId="258"/>
            <ac:spMk id="68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9:51.324" v="6" actId="1076"/>
          <ac:grpSpMkLst>
            <pc:docMk/>
            <pc:sldMk cId="0" sldId="258"/>
            <ac:grpSpMk id="66" creationId="{00000000-0000-0000-0000-000000000000}"/>
          </ac:grpSpMkLst>
        </pc:grpChg>
      </pc:sldChg>
    </pc:docChg>
  </pc:docChgLst>
  <pc:docChgLst>
    <pc:chgData name="Aruana Marcondes" userId="S::aruana.marcondes@sp.senai.br::3b5ba883-9796-4925-87dd-7395c5a849ef" providerId="AD" clId="Web-{F9CA789C-FA2B-ABC1-4746-E0D93CC19689}"/>
    <pc:docChg chg="modSld">
      <pc:chgData name="Aruana Marcondes" userId="S::aruana.marcondes@sp.senai.br::3b5ba883-9796-4925-87dd-7395c5a849ef" providerId="AD" clId="Web-{F9CA789C-FA2B-ABC1-4746-E0D93CC19689}" dt="2022-01-26T14:38:05.244" v="0"/>
      <pc:docMkLst>
        <pc:docMk/>
      </pc:docMkLst>
      <pc:sldChg chg="delSp">
        <pc:chgData name="Aruana Marcondes" userId="S::aruana.marcondes@sp.senai.br::3b5ba883-9796-4925-87dd-7395c5a849ef" providerId="AD" clId="Web-{F9CA789C-FA2B-ABC1-4746-E0D93CC19689}" dt="2022-01-26T14:38:05.244" v="0"/>
        <pc:sldMkLst>
          <pc:docMk/>
          <pc:sldMk cId="0" sldId="258"/>
        </pc:sldMkLst>
        <pc:picChg chg="del">
          <ac:chgData name="Aruana Marcondes" userId="S::aruana.marcondes@sp.senai.br::3b5ba883-9796-4925-87dd-7395c5a849ef" providerId="AD" clId="Web-{F9CA789C-FA2B-ABC1-4746-E0D93CC19689}" dt="2022-01-26T14:38:05.244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Lucas Miguel Leal da Silva" userId="S::lucas.msilva@sp.senai.br::5c40faec-5f1f-47e9-a958-68edb761d629" providerId="AD" clId="Web-{E274CB7D-D5F6-CB88-97F7-1F9BAF23F222}"/>
    <pc:docChg chg="modSld">
      <pc:chgData name="Lucas Miguel Leal da Silva" userId="S::lucas.msilva@sp.senai.br::5c40faec-5f1f-47e9-a958-68edb761d629" providerId="AD" clId="Web-{E274CB7D-D5F6-CB88-97F7-1F9BAF23F222}" dt="2021-11-30T01:31:45.183" v="9"/>
      <pc:docMkLst>
        <pc:docMk/>
      </pc:docMkLst>
      <pc:sldChg chg="addSp delSp modSp">
        <pc:chgData name="Lucas Miguel Leal da Silva" userId="S::lucas.msilva@sp.senai.br::5c40faec-5f1f-47e9-a958-68edb761d629" providerId="AD" clId="Web-{E274CB7D-D5F6-CB88-97F7-1F9BAF23F222}" dt="2021-11-30T01:31:45.183" v="9"/>
        <pc:sldMkLst>
          <pc:docMk/>
          <pc:sldMk cId="0" sldId="257"/>
        </pc:sldMkLst>
        <pc:spChg chg="del mod">
          <ac:chgData name="Lucas Miguel Leal da Silva" userId="S::lucas.msilva@sp.senai.br::5c40faec-5f1f-47e9-a958-68edb761d629" providerId="AD" clId="Web-{E274CB7D-D5F6-CB88-97F7-1F9BAF23F222}" dt="2021-11-30T01:31:37.698" v="7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Lucas Miguel Leal da Silva" userId="S::lucas.msilva@sp.senai.br::5c40faec-5f1f-47e9-a958-68edb761d629" providerId="AD" clId="Web-{E274CB7D-D5F6-CB88-97F7-1F9BAF23F222}" dt="2021-11-30T01:31:42.995" v="8"/>
          <ac:spMkLst>
            <pc:docMk/>
            <pc:sldMk cId="0" sldId="257"/>
            <ac:spMk id="77" creationId="{1A8410D5-09A9-4E9A-8324-AE05DD12526F}"/>
          </ac:spMkLst>
        </pc:spChg>
        <pc:spChg chg="add del mod">
          <ac:chgData name="Lucas Miguel Leal da Silva" userId="S::lucas.msilva@sp.senai.br::5c40faec-5f1f-47e9-a958-68edb761d629" providerId="AD" clId="Web-{E274CB7D-D5F6-CB88-97F7-1F9BAF23F222}" dt="2021-11-30T01:31:45.183" v="9"/>
          <ac:spMkLst>
            <pc:docMk/>
            <pc:sldMk cId="0" sldId="257"/>
            <ac:spMk id="79" creationId="{F8D9D440-CCAE-4CA4-875F-AD08D54F116D}"/>
          </ac:spMkLst>
        </pc:spChg>
        <pc:grpChg chg="del mod">
          <ac:chgData name="Lucas Miguel Leal da Silva" userId="S::lucas.msilva@sp.senai.br::5c40faec-5f1f-47e9-a958-68edb761d629" providerId="AD" clId="Web-{E274CB7D-D5F6-CB88-97F7-1F9BAF23F222}" dt="2021-11-30T01:31:06.979" v="2"/>
          <ac:grpSpMkLst>
            <pc:docMk/>
            <pc:sldMk cId="0" sldId="257"/>
            <ac:grpSpMk id="4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20.510" v="5"/>
          <ac:grpSpMkLst>
            <pc:docMk/>
            <pc:sldMk cId="0" sldId="257"/>
            <ac:grpSpMk id="75" creationId="{0BCB4BF7-1C02-4670-98EB-A548B299ADD0}"/>
          </ac:grpSpMkLst>
        </pc:grpChg>
      </pc:sldChg>
      <pc:sldChg chg="addSp delSp">
        <pc:chgData name="Lucas Miguel Leal da Silva" userId="S::lucas.msilva@sp.senai.br::5c40faec-5f1f-47e9-a958-68edb761d629" providerId="AD" clId="Web-{E274CB7D-D5F6-CB88-97F7-1F9BAF23F222}" dt="2021-11-30T01:31:18.042" v="4"/>
        <pc:sldMkLst>
          <pc:docMk/>
          <pc:sldMk cId="0" sldId="258"/>
        </pc:sldMkLst>
        <pc:grpChg chg="del">
          <ac:chgData name="Lucas Miguel Leal da Silva" userId="S::lucas.msilva@sp.senai.br::5c40faec-5f1f-47e9-a958-68edb761d629" providerId="AD" clId="Web-{E274CB7D-D5F6-CB88-97F7-1F9BAF23F222}" dt="2021-11-30T01:31:18.042" v="4"/>
          <ac:grpSpMkLst>
            <pc:docMk/>
            <pc:sldMk cId="0" sldId="258"/>
            <ac:grpSpMk id="66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14.854" v="3"/>
          <ac:grpSpMkLst>
            <pc:docMk/>
            <pc:sldMk cId="0" sldId="258"/>
            <ac:grpSpMk id="75" creationId="{28DCA77A-25D6-4AC8-926C-CA966CB46EF3}"/>
          </ac:grpSpMkLst>
        </pc:grpChg>
      </pc:sldChg>
    </pc:docChg>
  </pc:docChgLst>
  <pc:docChgLst>
    <pc:chgData name="Aruana Marcondes" userId="S::aruana.marcondes@sp.senai.br::3b5ba883-9796-4925-87dd-7395c5a849ef" providerId="AD" clId="Web-{280E3ABB-C11A-BBD9-2802-532C104E159E}"/>
    <pc:docChg chg="modSld">
      <pc:chgData name="Aruana Marcondes" userId="S::aruana.marcondes@sp.senai.br::3b5ba883-9796-4925-87dd-7395c5a849ef" providerId="AD" clId="Web-{280E3ABB-C11A-BBD9-2802-532C104E159E}" dt="2022-01-25T14:55:06.476" v="0"/>
      <pc:docMkLst>
        <pc:docMk/>
      </pc:docMkLst>
      <pc:sldChg chg="addSp modSp">
        <pc:chgData name="Aruana Marcondes" userId="S::aruana.marcondes@sp.senai.br::3b5ba883-9796-4925-87dd-7395c5a849ef" providerId="AD" clId="Web-{280E3ABB-C11A-BBD9-2802-532C104E159E}" dt="2022-01-25T14:55:06.476" v="0"/>
        <pc:sldMkLst>
          <pc:docMk/>
          <pc:sldMk cId="0" sldId="258"/>
        </pc:sldMkLst>
        <pc:picChg chg="add mod">
          <ac:chgData name="Aruana Marcondes" userId="S::aruana.marcondes@sp.senai.br::3b5ba883-9796-4925-87dd-7395c5a849ef" providerId="AD" clId="Web-{280E3ABB-C11A-BBD9-2802-532C104E159E}" dt="2022-01-25T14:55:06.476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delia Bianca Magi de Moura" userId="S::adelia.moura@sp.senai.br::1d064294-64c6-4623-8dcc-126153f5c19e" providerId="AD" clId="Web-{E997C4D9-1869-CBC7-0693-58570764A1CA}"/>
    <pc:docChg chg="modSld">
      <pc:chgData name="Adelia Bianca Magi de Moura" userId="S::adelia.moura@sp.senai.br::1d064294-64c6-4623-8dcc-126153f5c19e" providerId="AD" clId="Web-{E997C4D9-1869-CBC7-0693-58570764A1CA}" dt="2022-08-15T19:44:12.365" v="15" actId="1076"/>
      <pc:docMkLst>
        <pc:docMk/>
      </pc:docMkLst>
      <pc:sldChg chg="addSp delSp modSp">
        <pc:chgData name="Adelia Bianca Magi de Moura" userId="S::adelia.moura@sp.senai.br::1d064294-64c6-4623-8dcc-126153f5c19e" providerId="AD" clId="Web-{E997C4D9-1869-CBC7-0693-58570764A1CA}" dt="2022-08-15T19:44:12.365" v="15" actId="1076"/>
        <pc:sldMkLst>
          <pc:docMk/>
          <pc:sldMk cId="0" sldId="277"/>
        </pc:sldMkLst>
        <pc:spChg chg="add del">
          <ac:chgData name="Adelia Bianca Magi de Moura" userId="S::adelia.moura@sp.senai.br::1d064294-64c6-4623-8dcc-126153f5c19e" providerId="AD" clId="Web-{E997C4D9-1869-CBC7-0693-58570764A1CA}" dt="2022-08-15T19:44:00.364" v="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delia Bianca Magi de Moura" userId="S::adelia.moura@sp.senai.br::1d064294-64c6-4623-8dcc-126153f5c19e" providerId="AD" clId="Web-{E997C4D9-1869-CBC7-0693-58570764A1CA}" dt="2022-08-15T19:44:12.365" v="15" actId="1076"/>
          <ac:spMkLst>
            <pc:docMk/>
            <pc:sldMk cId="0" sldId="277"/>
            <ac:spMk id="5" creationId="{00000000-0000-0000-0000-000000000000}"/>
          </ac:spMkLst>
        </pc:spChg>
        <pc:grpChg chg="mod">
          <ac:chgData name="Adelia Bianca Magi de Moura" userId="S::adelia.moura@sp.senai.br::1d064294-64c6-4623-8dcc-126153f5c19e" providerId="AD" clId="Web-{E997C4D9-1869-CBC7-0693-58570764A1CA}" dt="2022-08-15T19:44:06.521" v="13" actId="1076"/>
          <ac:grpSpMkLst>
            <pc:docMk/>
            <pc:sldMk cId="0" sldId="277"/>
            <ac:grpSpMk id="2" creationId="{00000000-0000-0000-0000-000000000000}"/>
          </ac:grpSpMkLst>
        </pc:grpChg>
        <pc:grpChg chg="mod">
          <ac:chgData name="Adelia Bianca Magi de Moura" userId="S::adelia.moura@sp.senai.br::1d064294-64c6-4623-8dcc-126153f5c19e" providerId="AD" clId="Web-{E997C4D9-1869-CBC7-0693-58570764A1CA}" dt="2022-08-15T19:43:38.489" v="10" actId="1076"/>
          <ac:grpSpMkLst>
            <pc:docMk/>
            <pc:sldMk cId="0" sldId="277"/>
            <ac:grpSpMk id="8" creationId="{00000000-0000-0000-0000-000000000000}"/>
          </ac:grpSpMkLst>
        </pc:grpChg>
      </pc:sldChg>
    </pc:docChg>
  </pc:docChgLst>
  <pc:docChgLst>
    <pc:chgData name="Luciana Seguin E Seguin" userId="S::luciana.seguin@sp.senai.br::c06bbc8a-9dca-427a-8349-4d2edc3ff980" providerId="AD" clId="Web-{67B79760-9B19-EA06-B321-81BE3DC8DF22}"/>
    <pc:docChg chg="modSld">
      <pc:chgData name="Luciana Seguin E Seguin" userId="S::luciana.seguin@sp.senai.br::c06bbc8a-9dca-427a-8349-4d2edc3ff980" providerId="AD" clId="Web-{67B79760-9B19-EA06-B321-81BE3DC8DF22}" dt="2022-01-28T13:28:15.146" v="5" actId="20577"/>
      <pc:docMkLst>
        <pc:docMk/>
      </pc:docMkLst>
      <pc:sldChg chg="modSp">
        <pc:chgData name="Luciana Seguin E Seguin" userId="S::luciana.seguin@sp.senai.br::c06bbc8a-9dca-427a-8349-4d2edc3ff980" providerId="AD" clId="Web-{67B79760-9B19-EA06-B321-81BE3DC8DF22}" dt="2022-01-28T13:27:58.270" v="2" actId="20577"/>
        <pc:sldMkLst>
          <pc:docMk/>
          <pc:sldMk cId="0" sldId="261"/>
        </pc:sldMkLst>
        <pc:spChg chg="mod">
          <ac:chgData name="Luciana Seguin E Seguin" userId="S::luciana.seguin@sp.senai.br::c06bbc8a-9dca-427a-8349-4d2edc3ff980" providerId="AD" clId="Web-{67B79760-9B19-EA06-B321-81BE3DC8DF22}" dt="2022-01-28T13:27:58.270" v="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Luciana Seguin E Seguin" userId="S::luciana.seguin@sp.senai.br::c06bbc8a-9dca-427a-8349-4d2edc3ff980" providerId="AD" clId="Web-{67B79760-9B19-EA06-B321-81BE3DC8DF22}" dt="2022-01-28T13:28:15.146" v="5" actId="20577"/>
        <pc:sldMkLst>
          <pc:docMk/>
          <pc:sldMk cId="0" sldId="270"/>
        </pc:sldMkLst>
        <pc:spChg chg="mod">
          <ac:chgData name="Luciana Seguin E Seguin" userId="S::luciana.seguin@sp.senai.br::c06bbc8a-9dca-427a-8349-4d2edc3ff980" providerId="AD" clId="Web-{67B79760-9B19-EA06-B321-81BE3DC8DF22}" dt="2022-01-28T13:28:15.146" v="5" actId="20577"/>
          <ac:spMkLst>
            <pc:docMk/>
            <pc:sldMk cId="0" sldId="270"/>
            <ac:spMk id="7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A1DCB-4EBB-40A2-8FB5-49AC859F94B4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1B21D-9047-497B-A339-E664BA977B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86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Linguagem filosófica e cheia de metáforas / parábolas / analogias</a:t>
            </a:r>
          </a:p>
          <a:p>
            <a:r>
              <a:rPr lang="pt-BR" dirty="0"/>
              <a:t>A primeira lei do carneiro sobre o universo</a:t>
            </a:r>
          </a:p>
          <a:p>
            <a:r>
              <a:rPr lang="pt-BR" dirty="0"/>
              <a:t>livro Complexidade de Mitchell </a:t>
            </a:r>
            <a:r>
              <a:rPr lang="pt-BR" dirty="0" err="1"/>
              <a:t>Waldrup</a:t>
            </a:r>
            <a:endParaRPr lang="pt-BR" dirty="0"/>
          </a:p>
          <a:p>
            <a:r>
              <a:rPr lang="pt-BR" dirty="0"/>
              <a:t>Inúmeros conceitos ainda estou tentando entender e debater com o autor.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26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Comportamento de qualquer organismo, organização ou sistema autogovernado que combine harmoniosamente características de ordem e caos.</a:t>
            </a:r>
          </a:p>
          <a:p>
            <a:r>
              <a:rPr lang="pt-BR" dirty="0"/>
              <a:t>Disposto de maneira a não ser dominado nem pelo caos nem pela ordem.</a:t>
            </a:r>
          </a:p>
          <a:p>
            <a:r>
              <a:rPr lang="pt-BR" dirty="0"/>
              <a:t>Característica dos princípios organizadores fundamentais da evolução e da natureza.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25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Sistema </a:t>
            </a:r>
            <a:r>
              <a:rPr lang="pt-BR" dirty="0" err="1"/>
              <a:t>Caórdico</a:t>
            </a:r>
            <a:r>
              <a:rPr lang="pt-BR" dirty="0"/>
              <a:t> – Como direcionar uma organização para um caminho de sucesso?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Através de: Princípios e propósitos</a:t>
            </a:r>
          </a:p>
          <a:p>
            <a:r>
              <a:rPr lang="pt-BR" dirty="0"/>
              <a:t>A ilusão do controle (Podemos achar que controlamos uma organização por imposição ou até democraticamente)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Há três tipos de poder (Imposto, Eleito, Conquistado)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298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Autor tomou conhecimento da “nova” disciplina científica chamada </a:t>
            </a:r>
            <a:r>
              <a:rPr lang="pt-BR" b="1" u="none" dirty="0"/>
              <a:t>Complexidade</a:t>
            </a:r>
            <a:r>
              <a:rPr lang="pt-BR" dirty="0"/>
              <a:t>.</a:t>
            </a:r>
          </a:p>
          <a:p>
            <a:pPr marL="171450" indent="-171450">
              <a:buFontTx/>
              <a:buChar char="-"/>
            </a:pPr>
            <a:r>
              <a:rPr lang="pt-BR" dirty="0"/>
              <a:t>Uso de metáforas:</a:t>
            </a:r>
          </a:p>
          <a:p>
            <a:pPr marL="628650" lvl="1" indent="-171450">
              <a:buFontTx/>
              <a:buChar char="-"/>
            </a:pPr>
            <a:r>
              <a:rPr lang="pt-BR" dirty="0"/>
              <a:t>Macaco velho</a:t>
            </a:r>
          </a:p>
          <a:p>
            <a:pPr marL="628650" lvl="1" indent="-171450">
              <a:buFontTx/>
              <a:buChar char="-"/>
            </a:pPr>
            <a:r>
              <a:rPr lang="pt-BR" dirty="0"/>
              <a:t>Cordeiro e Leão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204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378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Como direcionar uma organização para um caminho de sucesso?</a:t>
            </a:r>
          </a:p>
          <a:p>
            <a:r>
              <a:rPr lang="pt-BR" dirty="0"/>
              <a:t>Entregar resultados</a:t>
            </a:r>
          </a:p>
          <a:p>
            <a:r>
              <a:rPr lang="pt-BR" dirty="0"/>
              <a:t>Transparência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002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830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257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0458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Há três tipos de poder (Imposto, Eleito, Conquistado)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07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8C52-B3EA-4E5E-AE77-183340D9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0C14C7-3345-8173-30ED-EDC9E6C9A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87AE909-012A-31A7-58B4-443C1DE8E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- Em 1968, a comunidade VISA não passava de um conjunto de crenças e de um conceito vago. Em 1970, ela nasceu. Hoje, 29 anos depois, seus produtos são criados por 22 mil instituições financeiras e aceitos em quinze milhões de estabelecimentos comerciais em mais de duzentos países e territórios. </a:t>
            </a:r>
          </a:p>
          <a:p>
            <a:pPr marL="171450" indent="-171450">
              <a:buFontTx/>
              <a:buChar char="-"/>
            </a:pPr>
            <a:r>
              <a:rPr lang="pt-BR" dirty="0"/>
              <a:t>“Cuidado com as Quatro Bestas que inevitavelmente, devoram seu dono: o Ego, a Inveja, a Avareza e a Ambição”</a:t>
            </a:r>
          </a:p>
          <a:p>
            <a:pPr marL="171450" indent="-171450">
              <a:buFontTx/>
              <a:buChar char="-"/>
            </a:pPr>
            <a:r>
              <a:rPr lang="pt-BR" dirty="0"/>
              <a:t>Vítima do sucesso: Concorrência</a:t>
            </a:r>
          </a:p>
          <a:p>
            <a:pPr marL="171450" indent="-171450">
              <a:buFontTx/>
              <a:buChar char="-"/>
            </a:pPr>
            <a:r>
              <a:rPr lang="pt-BR" dirty="0"/>
              <a:t>Vencendo a sabotagem</a:t>
            </a:r>
          </a:p>
          <a:p>
            <a:pPr marL="171450" indent="-171450">
              <a:buFontTx/>
              <a:buChar char="-"/>
            </a:pPr>
            <a:r>
              <a:rPr lang="pt-BR" dirty="0"/>
              <a:t>Lembrança: “a vontade de conseguir sucesso e a graça da conciliação”</a:t>
            </a:r>
          </a:p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7571DF-0C41-4DBA-BB83-6FA318379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229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 dirty="0"/>
              <a:t>Formação da NBI</a:t>
            </a:r>
          </a:p>
          <a:p>
            <a:pPr marL="171450" indent="-171450">
              <a:buFontTx/>
              <a:buChar char="-"/>
            </a:pPr>
            <a:r>
              <a:rPr lang="pt-BR" dirty="0"/>
              <a:t>Usuários de cartões e lojistas em membros-proprietários do sistema</a:t>
            </a:r>
          </a:p>
          <a:p>
            <a:pPr marL="171450" indent="-171450">
              <a:buFontTx/>
              <a:buChar char="-"/>
            </a:pPr>
            <a:r>
              <a:rPr lang="pt-BR" dirty="0"/>
              <a:t>A palavra </a:t>
            </a:r>
            <a:r>
              <a:rPr lang="pt-B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visa</a:t>
            </a:r>
            <a:r>
              <a:rPr lang="pt-BR" dirty="0"/>
              <a:t> (que significa </a:t>
            </a:r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visto</a:t>
            </a:r>
            <a:r>
              <a:rPr lang="pt-BR" dirty="0"/>
              <a:t> em inglês e várias outras línguas)</a:t>
            </a:r>
          </a:p>
          <a:p>
            <a:pPr marL="171450" indent="-171450">
              <a:buFontTx/>
              <a:buChar char="-"/>
            </a:pPr>
            <a:r>
              <a:rPr lang="pt-BR" dirty="0"/>
              <a:t>“Na Era </a:t>
            </a:r>
            <a:r>
              <a:rPr lang="pt-BR" dirty="0" err="1"/>
              <a:t>Caórdica</a:t>
            </a:r>
            <a:r>
              <a:rPr lang="pt-BR" dirty="0"/>
              <a:t>, vai ser muito mais importante ter clareza de propósito e princípios sólidos que permitam o rápido cumprimento de objetivos específicos a curto prazo”</a:t>
            </a:r>
          </a:p>
          <a:p>
            <a:pPr marL="171450" indent="-171450">
              <a:buFontTx/>
              <a:buChar char="-"/>
            </a:pPr>
            <a:r>
              <a:rPr lang="pt-BR" dirty="0"/>
              <a:t>“o sucesso vai depender menos da rotina e mais do raciocínio, menos da autoridade de poucos e mais do julgamento de muitos, menos da compulsão e mais da motivação, menos do controle externo e mais da disciplina interior”</a:t>
            </a:r>
          </a:p>
          <a:p>
            <a:pPr marL="171450" indent="-171450">
              <a:buFontTx/>
              <a:buChar char="-"/>
            </a:pPr>
            <a:r>
              <a:rPr lang="pt-BR" dirty="0"/>
              <a:t>usuários de cartões e lojistas em membros-proprietários do </a:t>
            </a:r>
            <a:r>
              <a:rPr lang="pt-BR" dirty="0" err="1"/>
              <a:t>sistem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5748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Agir dentro dos princípios da instituição em busca de trazer ordem ao caos no ciclo de desafios diários, metas e resultados.</a:t>
            </a:r>
          </a:p>
          <a:p>
            <a:endParaRPr lang="pt-BR" dirty="0"/>
          </a:p>
          <a:p>
            <a:pPr lvl="0"/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Propósito (</a:t>
            </a:r>
            <a:r>
              <a:rPr lang="pt-B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o pilar central. "íman" que mantém o ecossistema unido. (</a:t>
            </a:r>
            <a:r>
              <a:rPr lang="pt-B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onde</a:t>
            </a:r>
            <a:r>
              <a:rPr lang="pt-B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ir)</a:t>
            </a:r>
          </a:p>
          <a:p>
            <a:pPr lvl="0"/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Princípios (</a:t>
            </a:r>
            <a:r>
              <a:rPr lang="pt-B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Principles</a:t>
            </a:r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São os valores morais e éticos inegociáveis. (</a:t>
            </a:r>
            <a:r>
              <a:rPr lang="pt-B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pt-B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agir na jornada).</a:t>
            </a:r>
          </a:p>
          <a:p>
            <a:pPr lvl="0"/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Membros (</a:t>
            </a:r>
            <a:r>
              <a:rPr lang="pt-B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dirty="0"/>
              <a:t> Todas as partes interessadas em cumprir o propósito (parceiros, clientes, fornecedores, colaboradores)</a:t>
            </a:r>
          </a:p>
          <a:p>
            <a:pPr lvl="0"/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Conceito Estrutural (</a:t>
            </a:r>
            <a:r>
              <a:rPr lang="pt-B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dirty="0"/>
              <a:t> A estrutura física ou jurídica só é desenhada após a definição dos pilares anteriores.</a:t>
            </a:r>
          </a:p>
          <a:p>
            <a:pPr lvl="0"/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Constituição/Regras (</a:t>
            </a:r>
            <a:r>
              <a:rPr lang="pt-B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Constitution</a:t>
            </a:r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dirty="0"/>
              <a:t> São os contratos e acordos formais que detalham os direitos, responsabilidades e as regras do jogo.</a:t>
            </a:r>
          </a:p>
          <a:p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Práticas (</a:t>
            </a:r>
            <a:r>
              <a:rPr lang="pt-B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Practices</a:t>
            </a:r>
            <a:r>
              <a:rPr lang="pt-BR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</a:t>
            </a:r>
            <a:r>
              <a:rPr lang="pt-BR"/>
              <a:t>São </a:t>
            </a:r>
            <a:r>
              <a:rPr lang="pt-BR" dirty="0"/>
              <a:t>as ações do dia a dia, os processos práticos e os serviços executados.</a:t>
            </a:r>
            <a:endParaRPr lang="pt-BR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867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Prof. Wellington Martins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1B21D-9047-497B-A339-E664BA977BD5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851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p.senai.br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p.senai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22974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O NASCIMENTO DA ERA CAÓRDICA</a:t>
            </a:r>
            <a:endParaRPr lang="pt-BR" sz="4950" kern="0" dirty="0">
              <a:solidFill>
                <a:srgbClr val="000000"/>
              </a:solidFill>
              <a:latin typeface="Montserrat ExtraBold"/>
              <a:cs typeface="Montserrat ExtraBold"/>
            </a:endParaRPr>
          </a:p>
          <a:p>
            <a:pPr marL="12700">
              <a:lnSpc>
                <a:spcPct val="100000"/>
              </a:lnSpc>
            </a:pPr>
            <a:r>
              <a:rPr lang="pt-BR" sz="4950" kern="0" spc="-10" dirty="0">
                <a:solidFill>
                  <a:srgbClr val="000000"/>
                </a:solidFill>
                <a:latin typeface="Montserrat"/>
                <a:cs typeface="Montserrat"/>
              </a:rPr>
              <a:t>HOCK, Dee.</a:t>
            </a:r>
            <a:endParaRPr lang="pt-BR" sz="4950" kern="0" dirty="0">
              <a:solidFill>
                <a:srgbClr val="000000"/>
              </a:solidFill>
              <a:latin typeface="Montserrat"/>
              <a:cs typeface="Montserra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D200404-799A-5AEF-6D40-E3FA090CA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49" y="2200087"/>
            <a:ext cx="6582002" cy="690917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4553B08-1C00-C2BE-3680-5569A1EC31F4}"/>
              </a:ext>
            </a:extLst>
          </p:cNvPr>
          <p:cNvSpPr txBox="1"/>
          <p:nvPr/>
        </p:nvSpPr>
        <p:spPr>
          <a:xfrm>
            <a:off x="12309320" y="9458261"/>
            <a:ext cx="54391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Me ajudem a entender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39C38-C77C-0370-49CD-E2553CEC2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2881E21-CCBB-1B81-32E3-510F36123B8A}"/>
              </a:ext>
            </a:extLst>
          </p:cNvPr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8A8D52A-539D-126E-ABF9-7769A9F747E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7C91518-9AD2-4B8D-0712-A9FFE04C161B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A96CC36F-A39A-452E-11E3-47D128A2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450" y="2333408"/>
            <a:ext cx="11430000" cy="6484676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88FAA633-8FFA-50D1-AF70-2E9ECE8F2A6B}"/>
              </a:ext>
            </a:extLst>
          </p:cNvPr>
          <p:cNvSpPr/>
          <p:nvPr/>
        </p:nvSpPr>
        <p:spPr>
          <a:xfrm>
            <a:off x="374650" y="8893221"/>
            <a:ext cx="7239000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115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Caórdica</a:t>
            </a:r>
            <a:endParaRPr lang="pt-BR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584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41D9-7375-D759-7322-756F05315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986646-2E73-D76E-D246-4B81E1DB9B9D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4CFA270-5B55-D392-6F6D-340B3E9A0FE6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04D625C-7747-F736-7DE7-C3B0DB08FE9B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0B71A1E-6D9A-B9DD-E2F3-A6E9045A203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E305041-8EA9-EE7A-F662-0423E81B5ED6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30D4E00-426C-9492-8C5A-D12E9AFBCAF6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74B3163-2E79-DB46-EED5-1B544E14A840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82E4658-C2C6-9606-BAD4-D6BFFBEBD951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26EFE5C-BC08-D115-A655-0BB073C0E670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E3F80E5-862A-98BC-D602-4B8BB5E65CE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4CC2B09-07B7-DC08-F57B-B1C330E0D5BB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5BF798D-08DA-991A-5611-8C7D330AEF7A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C4EDFE9-F085-9F7F-7246-A4F856C3BEB1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9D6F936-4422-4E1F-A599-D44FE897BDF1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C044012-B6EA-FDD7-3911-4FEF39839FE1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9D1CE1F-751B-A704-DDB8-C3ED4C133064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17396F6-9150-EAC1-BEDB-BC5CC5D32481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33253C5-BCC1-B944-4E1E-A2A8FBCDCA1E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D7DFDB8-EDF1-F613-9025-E35892B4C8E5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661FCBD-A8AB-2C76-FB9B-B39FA61568B2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4F4FBC2-89CA-39DE-B93C-A54D317A2C6F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7CD19F10-9B27-7B2F-CC76-55722A78529F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F28830B0-4BF4-E67D-C4C0-7AD3D44A6105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0286060-269D-CADB-44D5-96D6DED84F5A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7A635A4-A388-DECF-03B0-95A33E5A4C6E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3AA09A22-9837-F304-12DF-F9901FDF83E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7855BD3-09FF-5828-9E0E-DCC278420A7F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24AEACC-200B-BFEF-637B-8131DA3694F7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8C9A389B-A3DC-77AB-DF20-EFC4B996CF9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D2457A5E-2DDD-6DFC-1F6B-2B6ADBA8B409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B457F9D1-25D1-4270-BDFD-E126C83C3AB4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A7E6F2D6-1D9B-5B69-E719-BCC8117640E7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FC671A89-5A26-D036-850D-195AD1063A45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889D8D44-5A6A-F65D-B4E6-99968669B82D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A9B824E-AE98-16CD-9D11-AEB908EF7D69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856DBE24-2AFE-FFF4-305D-0AB4CCEE4268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2A18F8C4-4E12-51FA-912E-1235DD627CEA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78CA53A3-A5DF-0729-324C-5E37FB7F0E6B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F0B964C1-B893-C4DB-2089-0E21CFB8791E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29E08082-5D16-2B75-1B2B-6DF8012961F1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831C83AD-3952-0656-19FD-F137B2C53F20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E60F9A04-3571-8789-70C5-313AB9728D52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A60676A6-E5C1-083B-44BB-EBEC1B5CE58A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FE428651-0B72-11DA-77F9-8B0BAA590F64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4CBAC2ED-0B12-A189-A214-E84219E7D7E7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80529218-79B3-11CA-6583-45759F6F227B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B6659C62-D221-B395-CD30-F158B213AA1C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C29F60AF-22B9-DF82-2C42-2843F2EA309C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94E1E42B-B2BD-A59B-6DD3-3A281F819039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F79DF27E-867C-9ABE-9813-285C9B0B00D8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4C97599A-9433-661B-7703-DC6901667C78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A146A2D3-2E86-7D9B-F367-97E63194715A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8A5837AA-9CB7-E0C6-75E6-FCC1D112B43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261D4443-F5F2-EC2F-735A-0A8893D35AB6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F02607A2-C864-930C-A7BF-F19115852D0D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397ADEC5-E475-DA55-D2DF-4573F27AE40B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3BE1BEC1-2E51-62BE-4D87-6B657CDA6503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86A44B2F-4E82-7B00-3ADC-44F9A03DAEA0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8F9D28B3-96A6-4C81-753D-E252F865DB64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BD56039B-07AC-81AD-B8D0-A791268B387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D39C3641-23CF-1404-CE81-57A971BC1934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BBF49DE5-CE81-B19D-7DA1-281F20AFC148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8AC596D3-F3F4-CEE2-14EB-7F9CE8401DF5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A33A91A8-FC1C-08BC-7E12-5F9B3123EA52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87C7C940-CCE6-965E-8B8B-B8C397E9855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936E41CB-CC91-BC20-0D14-E76CFD53865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D8308A86-E608-4488-7A0E-E497D05305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38548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6 ELEMENTOS</a:t>
            </a:r>
            <a:endParaRPr sz="4950" dirty="0">
              <a:latin typeface="Montserrat ExtraBold"/>
              <a:cs typeface="Montserrat ExtraBold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F9FC0D67-733A-1D21-FDCA-AA486512E828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2A021E35-D97B-CAFA-981F-98CE26E4746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CD51BF0-EB64-74B7-56CA-8E0F7C53A7A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9BB073D0-A26E-97EE-1C90-A40B343D913C}"/>
              </a:ext>
            </a:extLst>
          </p:cNvPr>
          <p:cNvSpPr txBox="1"/>
          <p:nvPr/>
        </p:nvSpPr>
        <p:spPr>
          <a:xfrm>
            <a:off x="1502714" y="2173132"/>
            <a:ext cx="1641827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Propósito (Missão)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</a:rPr>
              <a:t>Princípios (Visão)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chemeClr val="bg1">
                    <a:lumMod val="75000"/>
                  </a:schemeClr>
                </a:solidFill>
                <a:latin typeface="Montserrat"/>
              </a:rPr>
              <a:t>Pessoas (Propósitos de acordo com princípios)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chemeClr val="bg1">
                    <a:lumMod val="75000"/>
                  </a:schemeClr>
                </a:solidFill>
                <a:latin typeface="Montserrat"/>
              </a:rPr>
              <a:t>Estrutura (Documento – Regimento comum)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chemeClr val="bg1">
                    <a:lumMod val="75000"/>
                  </a:schemeClr>
                </a:solidFill>
                <a:latin typeface="Montserrat"/>
              </a:rPr>
              <a:t>Prática (Decisões e atos das pessoas)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chemeClr val="bg1">
                    <a:lumMod val="75000"/>
                  </a:schemeClr>
                </a:solidFill>
                <a:latin typeface="Montserrat"/>
              </a:rPr>
              <a:t>Evolução / Lucro - Sucesso</a:t>
            </a:r>
            <a:endParaRPr lang="pt-BR" sz="5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36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3854875" cy="68627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MISSÃO 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ct val="10000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SENAI</a:t>
            </a:r>
            <a:r>
              <a:rPr lang="pt-BR" sz="4950" spc="-25" dirty="0">
                <a:solidFill>
                  <a:srgbClr val="FFFFFF"/>
                </a:solidFill>
                <a:latin typeface="Montserrat"/>
                <a:cs typeface="Montserrat"/>
              </a:rPr>
              <a:t> – </a:t>
            </a: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Promover o desenvolvimento sustentável do país, elevando a competitividade da indústria, por meio da educação profissional e da inovação e tecnologia.</a:t>
            </a:r>
            <a:b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</a:br>
            <a:b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</a:br>
            <a:b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</a:br>
            <a:r>
              <a:rPr lang="pt-BR" sz="4950" b="1" spc="-25" dirty="0" err="1">
                <a:solidFill>
                  <a:srgbClr val="FFFFFF"/>
                </a:solidFill>
                <a:latin typeface="Montserrat"/>
                <a:cs typeface="Montserrat"/>
              </a:rPr>
              <a:t>Caórdico</a:t>
            </a:r>
            <a:r>
              <a:rPr lang="pt-BR" sz="4950" b="1" spc="-25" dirty="0">
                <a:solidFill>
                  <a:srgbClr val="FFFFFF"/>
                </a:solidFill>
                <a:latin typeface="Montserrat"/>
                <a:cs typeface="Montserrat"/>
              </a:rPr>
              <a:t> -------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DCA77A-25D6-4AC8-926C-CA966CB46EF3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D8A9D94-9D25-4BC4-9A69-403DAF9F10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482F69B-C046-4033-9E32-A86819E227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7" name="Imagem 66">
            <a:extLst>
              <a:ext uri="{FF2B5EF4-FFF2-40B4-BE49-F238E27FC236}">
                <a16:creationId xmlns:a16="http://schemas.microsoft.com/office/drawing/2014/main" id="{03FF49B5-5623-A985-33CC-431F83BA0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314" y="4944077"/>
            <a:ext cx="10662269" cy="6049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1047088" y="3560100"/>
            <a:ext cx="19057620" cy="7068184"/>
            <a:chOff x="1047088" y="3560100"/>
            <a:chExt cx="19057620" cy="7068184"/>
          </a:xfrm>
        </p:grpSpPr>
        <p:pic>
          <p:nvPicPr>
            <p:cNvPr id="33" name="object 33"/>
            <p:cNvPicPr/>
            <p:nvPr/>
          </p:nvPicPr>
          <p:blipFill>
            <a:blip r:embed="rId3" cstate="print">
              <a:alphaModFix amt="20000"/>
            </a:blip>
            <a:stretch>
              <a:fillRect/>
            </a:stretch>
          </p:blipFill>
          <p:spPr>
            <a:xfrm>
              <a:off x="1047088" y="3560100"/>
              <a:ext cx="19057011" cy="602075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570632" y="9057315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VISÃO</a:t>
            </a:r>
            <a:endParaRPr sz="4950" dirty="0">
              <a:latin typeface="Montserrat ExtraBold"/>
              <a:cs typeface="Montserrat ExtraBold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92D05B1-5887-0429-F65B-1E38693A4BE5}"/>
              </a:ext>
            </a:extLst>
          </p:cNvPr>
          <p:cNvSpPr txBox="1"/>
          <p:nvPr/>
        </p:nvSpPr>
        <p:spPr>
          <a:xfrm>
            <a:off x="1319399" y="3951575"/>
            <a:ext cx="11030968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bg1"/>
                </a:solidFill>
              </a:rPr>
              <a:t>Ser reconhecido pela oferta de formação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profissional de padrão global.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bg1"/>
                </a:solidFill>
              </a:rPr>
              <a:t>Excelência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bg1"/>
                </a:solidFill>
              </a:rPr>
              <a:t>Serviços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bg1"/>
                </a:solidFill>
              </a:rPr>
              <a:t>Processos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bg1"/>
                </a:solidFill>
              </a:rPr>
              <a:t>Educação para o trabalho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bg1"/>
                </a:solidFill>
              </a:rPr>
              <a:t>Cidadania</a:t>
            </a: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626E0122-17F5-84C3-27DF-6AE1CE02F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748" y="5519615"/>
            <a:ext cx="8911133" cy="5055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5D97E-A5BF-E760-EF00-0453445D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D4D4BF2-51B2-3B19-3A3A-E2810AA72DA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F80AAA6-6280-7185-8FC0-CF4D0BE45D35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65ACF5E-FC16-4DFF-15C0-B77362D6F1C5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032FE9B-580A-7EAC-A737-B37641514ABC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8525861-2CC3-D1D2-C641-AFAA2CACE199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E60CAEE-DC8E-BA4F-D3D6-2765D0DBF110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3D0CB37-5CF1-A463-A3C5-60E77B42852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C0067C2-5451-04C8-6137-09D176BAAE6C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17CA304-C0C0-F802-6776-00E5BA0663EA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01E656F-B73E-D84F-5A7A-58DAA05362D4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081F8CB-E0BE-BA52-62EE-D1B62DC15A81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B97B407-3B07-E370-B2E1-8B0466F22E87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20111E94-AA67-1667-5AB9-5CB33ED8C3ED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8C02C5D-8319-B573-E4A6-69B63219EB38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0B2C3CC-D045-8333-0C6B-161C91C618F6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24FB04D-21BD-F9F4-B1F5-79B74E673787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AA6C17C-3C08-CDD7-7AAC-362FBF0E622B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9BF81C0-C54B-9897-7942-4B1DF0C5003A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6175E84-42B4-06DF-F96D-4B3B78B0828D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75936D8-4729-44DE-C173-E7528E611A1F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B6EC061-285D-4B32-2770-809191E51988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8E39C0E-C118-6723-FAD0-0EEA07B7465C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43C43C8-29FD-098D-B19A-D24DAF2F7ECD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5878CB2-C6C4-A75D-DAA0-5EB31A6A9C6E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FD9B9AD-AE14-D6F8-1A33-6C6606D3331B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C7CEB551-52BF-1B89-0089-8B7987393A60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86CD1F6-8783-9279-61D1-0B91190D9379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813066A-4B40-81B6-CD93-7EF1403DCF56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0A23D897-9070-B308-EA0B-D9C6D1D46664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08A609A-7003-8322-77EC-76B5687A70E6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3B004B4C-4D11-685D-1E1C-A510E779267A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7D11A7EE-82D5-1AC4-DB46-3B6C55708CE1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D7170EE9-B158-6C54-7BB3-19A6C2C84423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63C3AFB4-444F-E39F-F189-80E32168C005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8DE2441-9E06-C1AA-A1CB-3132D3CA2011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70361DCD-D2E4-8009-39F3-8748172D88C0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EC3FD6D6-3A8C-CCBC-2E12-964DADE60880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0320524-5886-5AFE-1B80-77BA77916B7B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FB60117C-1B04-6046-82CD-E8F1482C8C78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D66A1F81-99BA-772F-2D8C-8017F705D1EF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97D4DE63-CB1E-BAE3-9252-E4CDDA9E9BB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D89BBC82-709F-7BE7-A9EA-8AB8F624B655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99753D39-89A4-B620-00E0-2EAEB459CEC0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ABC28121-62AB-38BD-F98B-526DA4897DC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67F9806F-C9BD-FE58-34A6-234CD894D0D3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6C7A1DC7-07CC-20A7-6046-1CE98AE9E829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7FD7905B-91A0-8F15-A1FD-24BB86E41DF4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C5837596-9C31-186D-8521-99FD38859212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1D99B66B-A6BC-4CED-E4D5-FD179639A4E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3DD73B01-8ABE-2703-8E8F-C129D8FFBB70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C9253421-97B0-9755-4E61-EEB7EDC0F731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D7E4AF47-9EE6-C29F-8D89-F0EF056148EE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A084DE68-FB44-AD1A-1D76-F525E6129692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A85AFCE0-87F4-5E25-02B2-F388A7BBDDD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3C7A205A-B025-C3DD-E01C-9A8B522B6DBD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7CCB133-0E84-3677-1FA7-A957A83AC527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A47DF3D6-0B11-855B-1BE7-EB941CD01257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4CA1F689-B420-2B98-269B-548F70E0E736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82268455-8281-B286-6DA9-5F715C80A5D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879EA638-5129-33F8-08C7-3F235437B75A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9B883D7A-BBD9-CE66-B02F-DE81FA8965C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0B3EA3E7-69A9-C3CB-677E-C7E2A366AA8A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6E4E36C0-E737-F3E4-412A-0FBB41FA0C23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EFFF6AA2-028C-1C47-9F76-CBC0140812BF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BD819DAA-FD4C-DD04-2371-16B64932435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E505879B-9D05-1C94-792B-591EB9DCA3C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BEC790FC-84B5-3A93-F113-445EB2B762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38548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6 ELEMENTOS</a:t>
            </a:r>
            <a:endParaRPr sz="4950" dirty="0">
              <a:latin typeface="Montserrat ExtraBold"/>
              <a:cs typeface="Montserrat ExtraBold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C751ABBF-7582-6275-B4A5-C4B4B2B41F54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7F2851B3-980E-5650-36D4-EAF8C473136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7D353926-2BCE-819B-C95E-FB0D73FDC97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8140A647-946D-23E6-CB20-369FF0189EE2}"/>
              </a:ext>
            </a:extLst>
          </p:cNvPr>
          <p:cNvSpPr txBox="1"/>
          <p:nvPr/>
        </p:nvSpPr>
        <p:spPr>
          <a:xfrm>
            <a:off x="1502714" y="2173132"/>
            <a:ext cx="1641827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chemeClr val="bg1">
                    <a:lumMod val="50000"/>
                  </a:schemeClr>
                </a:solidFill>
                <a:latin typeface="Montserrat"/>
                <a:cs typeface="Montserrat"/>
              </a:rPr>
              <a:t>Propósito (Missão)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chemeClr val="bg1">
                    <a:lumMod val="50000"/>
                  </a:schemeClr>
                </a:solidFill>
                <a:latin typeface="Montserrat"/>
              </a:rPr>
              <a:t>Princípios (Visão)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chemeClr val="bg1"/>
                </a:solidFill>
                <a:latin typeface="Montserrat"/>
              </a:rPr>
              <a:t>Pessoas (Propósitos de acordo com princípios)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chemeClr val="bg1"/>
                </a:solidFill>
                <a:latin typeface="Montserrat"/>
              </a:rPr>
              <a:t>Estrutura (Documento – Regimento comum)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</a:rPr>
              <a:t>Prática (Decisões e atos das pessoas)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</a:rPr>
              <a:t>Evolução / Lucro - Sucesso</a:t>
            </a:r>
            <a:endParaRPr lang="pt-BR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2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C612-02F1-D6FE-4435-FEAACB3D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293E90-E8F9-AA3E-420F-111C339A7AA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D970A4-82E4-523E-F76F-1B88213C4E58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34FD51D-7E7B-282C-A8BD-BA9469A0D2C0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14F62FB-C6EB-F84C-3EDD-7410FDEBD363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28E38C4-BF76-5B73-00BA-10A6D8B7CFA0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068E84D-97C4-0209-FEF3-BBCD3655E1E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54DA8A5-8BB6-6B99-BD5B-0358E53F07A3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B268B49-48B0-9D9B-32ED-4719E11EB868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5850B8F-0782-3BCA-E11B-0C1533465C2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4C848B7-5E97-46D5-5C6F-01A7C60182E6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82F506E-EB5E-EB08-7245-59C5BE9598E9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84043F3-7825-CD64-4EA4-3BFEDCDC1F11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555D0BA-32DA-11D8-96C4-4406C90EED52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6125A25-74A7-F237-521C-83D5DF9DF63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CD4DB64-7922-F637-56D1-F7714213F9A2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E5C4381-630F-5C58-477C-E80F730FB4B9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8AA6B9-AC74-E8F4-EC9B-C2B80205E38D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D46365C-1C71-ADD5-8EBA-318395B48CDE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258276D-491B-4DFD-32DA-83EA573F4C3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073E3C4-E4AF-C493-4F79-39CEAED90133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7BF36C13-78B0-FC19-A8C1-41A89620B7C7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88401E80-79B9-FCC6-2466-2762DE40849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2DFB8DCE-B047-17A3-D82C-3CC170C45A96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53896ED7-EDEF-AE3A-C697-C7BC1882CCE2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277800F9-A116-CAA0-4D6A-E4089505E759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0C5BBAE-6E23-C248-8163-33B0584A7718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7B9AE58-B64B-D263-6F23-F737DA01228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6BE3CA87-A482-EEB5-4E7A-CD680003FD0C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4774BD5-BC34-FA2C-9BF1-780D98A8E6CE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9CA7072-921B-D3C4-5FDB-51ACE1FE97CA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3267EC55-F561-511E-DEFD-81395FA54955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47368AB9-4B81-F6DB-3226-1CCCBCAD0903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5214A3E0-0A3B-7008-7EC9-8C570A5AED4F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090546B2-5161-42EE-7831-7B4B0886B86E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A02B01F-B223-4DA2-4356-78F61C7A9E0B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3007931A-3C95-AF05-E520-710EC51BFF6C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0332D6F2-9082-4818-F430-CABAB43431EB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2907F76-4308-80BE-E6D4-B848F1E35410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ECA7CAE1-ACC2-8764-9568-8C0784DC9D04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266E009-A745-DF29-6A99-723C1870A85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79104DF-F12D-E39E-4F2A-5F890319DCB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05E39E2B-0BF7-FCB6-0B02-A98BD8CB0F5F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4952E390-5FAC-8F85-712B-6704B631D703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CF41E008-3332-818D-E5C3-264743FF5B8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029410B0-6225-B62C-AB49-FB0EEC39965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6780DD95-4701-CF32-3B29-3F4F91ED0DB8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AADEF271-84FF-40B1-FE18-49D17C6C865E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AB1070A4-00E0-80EB-1DF8-2456EB5F0D0A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D951E5B2-46EC-3E8D-F81D-DA1ACFB85CE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1546DEF7-2909-CFDD-E7AC-332C7E9945CF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2DA879D6-FC8A-ED72-DAB5-B4724B1B6017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C6FB62BE-8BFD-ED6E-492A-936259D0514C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31DF3020-662C-F147-6F17-CCB11EF432A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3FFD85AC-6026-ADD7-B0EA-EEE6E637B692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A81720D4-3CD1-B900-0043-5BFBEE1A869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CF7C31B-9D6D-F02D-E40F-EC8360E45DBD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0E713D9F-6137-FFE1-F085-4EEE26543D80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21480900-63A4-1C82-200E-DB89956F9246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A81F984F-832E-BEEE-FC36-1DF74F975014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D04D2D77-97B6-FF19-B3C1-952811167BF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D8CA8493-E352-CEA1-3773-C095B72B713A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9B351729-FD50-CB30-B9EC-BDD8E359885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E11BEF9E-AD71-9509-F44E-55852955671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A7E8CCAB-3A40-D295-564C-7F88BF351022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E8F0CC34-8C78-1452-65BC-2077740409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401B534D-71BF-8CAA-6D68-01D3A1C9683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2E7731BC-2801-D289-C7F7-D66580262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38548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TERMOS UTILIZADOS POR Dee </a:t>
            </a:r>
            <a:r>
              <a:rPr lang="pt-BR" sz="4950" b="1" spc="-15" dirty="0" err="1">
                <a:solidFill>
                  <a:srgbClr val="FFFFFF"/>
                </a:solidFill>
                <a:latin typeface="Montserrat ExtraBold"/>
                <a:cs typeface="Montserrat ExtraBold"/>
              </a:rPr>
              <a:t>Hock</a:t>
            </a: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.</a:t>
            </a:r>
            <a:endParaRPr sz="4950" dirty="0">
              <a:latin typeface="Montserrat ExtraBold"/>
              <a:cs typeface="Montserrat ExtraBold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4B983D6A-CA9D-42A7-387A-5FA8E931362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1D4D3E2D-125C-A81F-9328-0526CD7B1FB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350E67DB-7826-5214-AEE5-544B1EB3D61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DAE4FEAB-A157-5EA6-B380-D6C13D1A5442}"/>
              </a:ext>
            </a:extLst>
          </p:cNvPr>
          <p:cNvSpPr txBox="1"/>
          <p:nvPr/>
        </p:nvSpPr>
        <p:spPr>
          <a:xfrm>
            <a:off x="1502714" y="2173132"/>
            <a:ext cx="14754360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Macaco Velho – Mente Racional;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Por que </a:t>
            </a:r>
            <a:r>
              <a:rPr lang="pt-BR" sz="5400" b="1" spc="-25" dirty="0">
                <a:solidFill>
                  <a:srgbClr val="FFFFFF"/>
                </a:solidFill>
                <a:latin typeface="Montserrat"/>
                <a:cs typeface="Montserrat"/>
              </a:rPr>
              <a:t>Instituições</a:t>
            </a: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 não adm. questões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Por que </a:t>
            </a:r>
            <a:r>
              <a:rPr lang="pt-BR" sz="5400" b="1" spc="-25" dirty="0">
                <a:solidFill>
                  <a:srgbClr val="FFFFFF"/>
                </a:solidFill>
                <a:latin typeface="Montserrat"/>
                <a:cs typeface="Montserrat"/>
              </a:rPr>
              <a:t>Conflito</a:t>
            </a: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 (Pessoas x Instituições)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Por que </a:t>
            </a:r>
            <a:r>
              <a:rPr lang="pt-BR" sz="5400" b="1" spc="-25" dirty="0">
                <a:solidFill>
                  <a:srgbClr val="FFFFFF"/>
                </a:solidFill>
                <a:latin typeface="Montserrat"/>
                <a:cs typeface="Montserrat"/>
              </a:rPr>
              <a:t>Desequilíbrio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5400" b="1" spc="-25" dirty="0">
              <a:solidFill>
                <a:schemeClr val="bg1"/>
              </a:solidFill>
              <a:latin typeface="Montserrat"/>
            </a:endParaRPr>
          </a:p>
          <a:p>
            <a:pPr lvl="1"/>
            <a:r>
              <a:rPr lang="pt-BR" sz="5400" dirty="0">
                <a:solidFill>
                  <a:schemeClr val="bg1"/>
                </a:solidFill>
              </a:rPr>
              <a:t>“uma transformação da consciência, da cultura,</a:t>
            </a:r>
            <a:br>
              <a:rPr lang="pt-BR" sz="5400" dirty="0">
                <a:solidFill>
                  <a:schemeClr val="bg1"/>
                </a:solidFill>
              </a:rPr>
            </a:br>
            <a:r>
              <a:rPr lang="pt-BR" sz="5400" dirty="0">
                <a:solidFill>
                  <a:schemeClr val="bg1"/>
                </a:solidFill>
              </a:rPr>
              <a:t> da sociedade e das instituições como o mundo </a:t>
            </a:r>
            <a:br>
              <a:rPr lang="pt-BR" sz="5400" dirty="0">
                <a:solidFill>
                  <a:schemeClr val="bg1"/>
                </a:solidFill>
              </a:rPr>
            </a:br>
            <a:r>
              <a:rPr lang="pt-BR" sz="5400" dirty="0">
                <a:solidFill>
                  <a:schemeClr val="bg1"/>
                </a:solidFill>
              </a:rPr>
              <a:t>jamais experimentou”</a:t>
            </a:r>
          </a:p>
        </p:txBody>
      </p:sp>
    </p:spTree>
    <p:extLst>
      <p:ext uri="{BB962C8B-B14F-4D97-AF65-F5344CB8AC3E}">
        <p14:creationId xmlns:p14="http://schemas.microsoft.com/office/powerpoint/2010/main" val="491775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1AAA-6D15-2455-79D0-7B397BD44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4441E9-E8A1-9380-612B-A9F08F638E34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AD0D61E-BF9A-60E4-8C80-41EFD17804B1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BA6B8A2-9589-8485-A9AD-D98F5CC8BB05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E4AD9F8-FC51-FE55-6D1B-3B61D7F48EF1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6CA625D-B6A0-9DFD-1614-54B9043FD427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3CDC475-647F-4A70-0ADA-517074F7B4D2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54DEC12-DF11-5FF0-7CE2-771D9A3C5CB3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22EF0E2-F307-42AA-FFB0-4D54E1F9893C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FB4C236-868C-81AF-8813-65E48458B9AF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347784A-C395-7F0C-BBA4-1AFA6F52D549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A386351-208C-0344-E0CF-F6F89DB6BB54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9774E82-27B1-A4DE-7672-D94F30312F41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84974C9-536C-6EF3-7A20-DEF7A53C054E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4B10559-837E-DA43-9588-7377A4B64144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E931D3B-1737-4ADA-D971-2485698B8C91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3ED5D09-8FDB-9DC7-4262-25496EFF53C9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C24D6B9-23C1-0119-B0A2-A89521D75459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82BAEB7C-FF4E-FAB3-EBE9-E9668F7458FF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1F15FCA-32F1-71AC-F225-11578B2A7F81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EE7D7FE-954C-D41B-E0F9-DBCC5D36179B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D603158-88A5-D511-A25D-6381FDC0F1A2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8D7AE47-85D7-BAFB-F573-A073B812AB37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FF000FA-3B5A-A918-780E-AC6F3B24EC26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BC74E0C-11B1-9DDD-0E9B-2792B3D34280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FB60658A-D746-EC26-9030-45DBED02CCC2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D689BC3-5308-2E0A-C544-1E4047C98D1F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02F2A6D-5E1B-3FCA-66FC-33C177ABBFE2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790FFC44-9EF1-10A1-D1CA-D2E75DFBE8D3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251DA24B-859A-70DE-1632-E2176FF3374A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0A2589F-98AA-2AF3-704B-FFAA5B308578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07019DC2-1A55-844B-D75A-E18B4BB6464C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EF43619D-BEC6-54DA-DC36-097E4B6465A2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E588FB0C-779C-EE8F-F37A-68DEC3264165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606F50D5-3FC0-8C4A-B5A5-AB845B1ADB9E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76594FE-C4E3-BCE2-2BE6-5E224713B0F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2C1CD64-D4FF-1F27-4675-F70E1DD24217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EA6A66C6-44B6-3BB7-534B-3C8E82F006D1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CA2B8F26-A7E8-E224-3892-529B41BA4A3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414D70E6-4091-209B-6758-E822030E7E3D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B2C2AB9B-D322-708D-AA1B-D66BDB436DA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34FEB2A8-18DB-4742-7035-72166B9A1443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69A876C5-B6CE-395C-BA4C-21AA156772B5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95C42C7C-2B72-D6C4-8C74-51E67AFC2537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233F955C-BA5E-B5B0-617D-ED40A7566146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C1B6D067-5DF0-C679-8503-FCF4237BEC2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683778F4-4319-7330-123C-5E744ACF5E69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D4D59198-CDC3-D4BC-F931-9648D1FDC749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7898C4A7-BE4E-B638-C2CF-80EC9A77C12B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533052FF-8988-3850-7EC2-C8A712DAFBC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9E1BD20A-DE2A-23FD-4A80-4E3D0A289441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62125329-EB03-D035-085F-E43E0E2FC846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F1341D13-CC88-A8CB-3E1D-CB5A3986EA2F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DCB35050-59F6-D749-6B3C-EBD093DF235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1A48E944-EFDC-D6C0-9D30-8E31331DBAE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765C2CCB-17D5-8F47-F8A9-FF4C15EE2773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B8486DD-5760-0052-FCFC-37F61A9D2D44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F501A925-FC52-35DE-4641-6C2501A8787C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E5847D66-2224-3AB3-5BEB-6D065EC058B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97FCF99-1B66-5691-137A-F9A6E2C9CC7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14718AA4-B6D6-F9B2-7F2F-2200AD364A8A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7BCF154D-6BE9-BFA2-109C-792B80D024CF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5CC6D9BA-54D9-DB72-F578-CB29A9078526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D9A08EF4-D93C-35FA-7D55-4CF1EF16EC7B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FDCA5E3F-8985-4977-BFE6-F457FCAE96CB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628D059D-AA23-6DFC-E95F-D916C38B1A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9865BBA3-ABC6-EAD6-00A1-E0CC67A9036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DE2EB99E-0FD4-1697-6F9C-BC75985971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38548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TERMOS UTILIZADOS POR Dee </a:t>
            </a:r>
            <a:r>
              <a:rPr lang="pt-BR" sz="4950" b="1" spc="-15" dirty="0" err="1">
                <a:solidFill>
                  <a:srgbClr val="FFFFFF"/>
                </a:solidFill>
                <a:latin typeface="Montserrat ExtraBold"/>
                <a:cs typeface="Montserrat ExtraBold"/>
              </a:rPr>
              <a:t>Hock</a:t>
            </a: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.</a:t>
            </a:r>
            <a:endParaRPr sz="4950" dirty="0">
              <a:latin typeface="Montserrat ExtraBold"/>
              <a:cs typeface="Montserrat ExtraBold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579A346A-BFD1-99D5-22AB-74559B8B9274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693C0972-5DC3-9BCE-260C-6914AD4332C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51A31658-995A-CF44-251D-0221C62D793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88DBBDE5-51F9-5743-5C9C-3D2DC4912F9D}"/>
              </a:ext>
            </a:extLst>
          </p:cNvPr>
          <p:cNvSpPr txBox="1"/>
          <p:nvPr/>
        </p:nvSpPr>
        <p:spPr>
          <a:xfrm>
            <a:off x="1502714" y="2173132"/>
            <a:ext cx="13576152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Complexidade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Por que </a:t>
            </a:r>
            <a:r>
              <a:rPr lang="pt-BR" sz="5400" b="1" spc="-25" dirty="0">
                <a:solidFill>
                  <a:srgbClr val="FFFFFF"/>
                </a:solidFill>
                <a:latin typeface="Montserrat"/>
                <a:cs typeface="Montserrat"/>
              </a:rPr>
              <a:t>Desequilíbrio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5400" b="1" spc="-25" dirty="0">
                <a:solidFill>
                  <a:srgbClr val="FFFFFF"/>
                </a:solidFill>
                <a:latin typeface="Montserrat"/>
                <a:cs typeface="Montserrat"/>
              </a:rPr>
              <a:t>Interesse próprio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Má distribuição de Riqueza, Poder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5400" spc="-25" dirty="0">
              <a:solidFill>
                <a:schemeClr val="bg1"/>
              </a:solidFill>
              <a:latin typeface="Montserrat"/>
            </a:endParaRPr>
          </a:p>
          <a:p>
            <a:pPr lvl="1"/>
            <a:r>
              <a:rPr lang="pt-BR" sz="5400" dirty="0">
                <a:solidFill>
                  <a:schemeClr val="bg1"/>
                </a:solidFill>
              </a:rPr>
              <a:t>“Não precisava ser assim, nunca.</a:t>
            </a:r>
          </a:p>
          <a:p>
            <a:pPr lvl="1"/>
            <a:r>
              <a:rPr lang="pt-BR" sz="5400" dirty="0">
                <a:solidFill>
                  <a:schemeClr val="bg1"/>
                </a:solidFill>
              </a:rPr>
              <a:t>Não precisa ser assim agora.</a:t>
            </a:r>
          </a:p>
          <a:p>
            <a:pPr lvl="1"/>
            <a:r>
              <a:rPr lang="pt-BR" sz="5400" dirty="0">
                <a:solidFill>
                  <a:schemeClr val="bg1"/>
                </a:solidFill>
              </a:rPr>
              <a:t>Não pode ser assim para sempre”</a:t>
            </a:r>
          </a:p>
        </p:txBody>
      </p:sp>
    </p:spTree>
    <p:extLst>
      <p:ext uri="{BB962C8B-B14F-4D97-AF65-F5344CB8AC3E}">
        <p14:creationId xmlns:p14="http://schemas.microsoft.com/office/powerpoint/2010/main" val="176021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600DD-E18C-C2B6-AE43-A9AFFC2B7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80162A-A816-1317-3FDE-176D10BD90E4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10C694A-C0F3-184D-3C1D-4B64212A903F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39E94E-1920-0BB0-1BBC-DDEE8C3ABA63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380136A-E725-148A-1D99-26DCA55631D8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C75FEF0-A381-33E6-5666-0CDD1FE2C31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CBF0258-E472-4843-CE36-9E312F649B24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4A40CD4-3634-0B9B-E108-CB3157390704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0CF906C-95A3-C28E-5068-D4CC69FFAE91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879C82B-9720-C33A-251D-62D5BD7BE926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A65E990-C864-4E16-C358-2CE5721DA95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9F0C89E-7331-1115-6830-61D5C18AFD86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72AF199-70CA-3698-C70F-50DA2F1EC67E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A40E99C-C745-2BEC-2747-1C8190D14DF3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1A10B04-2013-AE46-4F92-9AC4FA5B3CDF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4367814-FC70-C548-058C-2A9A71B1589E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8BFA76E6-D613-A929-C86A-F83E25530C98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FC4B75C-BD94-7A48-8080-61B4407C597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56020F5-4D4D-B775-81D2-1EF171F7C1A4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A137D2C-F5C3-5163-225C-5D3B63A68B84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25F714E-F68A-7CE3-7CF4-3E6B9CF615C6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392D430-D2C6-8387-A700-A5650F96C0C0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39983D-3BCE-F2FC-C3AA-B1A075FE7470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07F7952-91EE-C2EB-4708-F172B7655C7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79AD6169-1057-758A-1425-A165DA04F18C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68BE3AC-7847-F348-B48A-3601CF8DEE39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03D37FC-58D1-4926-223E-63DF77F9D56D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9C76B511-4BDE-28D3-0177-7BC957993BB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B1A0D06-7E53-04A8-6EC2-C9E87F15BA9F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7B239A82-1F5E-5F9F-5A7F-61EF4CFD9AF1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B9DFBC8-66C5-CDC2-56E6-9860C591F9EB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40AD5998-F148-1CFD-533B-60833606B77C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BAE85697-466B-B723-5F2F-961C2A8A1A02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B69120A4-71B7-047F-061E-F414EB0B8A05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F4D6EE5D-984D-9D9E-FC90-E640BD59C097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1A370B9-13DD-CD08-4112-86A87EB1B4C7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6E963E71-6BB9-1BAA-E5AF-B4B6B707AD6F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FA566209-DB04-9ED9-3395-DE9536630B50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337871B8-C9CD-F5D3-7469-A4B494798A3B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2BAD82E5-8CE8-E19F-E0F8-AC437CEE058D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C5FD7D0-C347-2FA2-98FA-ECED409B3F1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E490EF44-9C7C-0D5D-C87D-F63E983BB64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890A4AD3-31EE-94F0-C44C-7CC3B4D9601A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A5E6D79D-AFEE-E5FA-2273-3DDB614F4192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B4CE115F-D9DC-CB5D-94B4-BF05AA456F09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0E88721D-EDE6-7FDB-1696-8DF3B29FA5B5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71603C95-5A76-E2E8-4E84-453B1EF1256B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3D59F179-747A-9548-BE54-8C8162A877BA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A057BEA5-3635-4B26-EDDB-1C4E50EA09B6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CAF924D9-BD54-D64D-68F5-410669AA6D91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5C540DD2-852C-1C45-D154-A519654F49F8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17FA38BB-ADD9-5CD5-ED04-2B3AA7C5FEC1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5CD05782-D871-D1E5-7A7E-112D3CB5B644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72111CAB-0BE0-CF3F-C262-6ED696C3DC65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14F93BE9-C4C2-AD17-0D81-2B6E5EFF9BF1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BD17D4EF-556A-F269-57E8-A86C51C39479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4B0CE37D-848B-B36A-C459-282469C75285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87FBBEAC-CF83-BA5E-11C3-BAEB7124E705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7FF33A7-FAB6-9650-0E4A-97A7A4F22321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72DC8B5-3A66-BB2D-D263-D92CAD159838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8E1BD6C1-46AA-47AE-0BAF-6D953CA7992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DBAFC725-A9F5-0820-9518-E49D9572A99D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D2BAA9E0-5000-B0E5-BCEC-D01CA069279F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5244BEEB-2609-F938-E290-703F280510E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105C443A-4320-9C2D-E030-C260DF9F6FC2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53A4FB49-DEEF-42A2-D501-06B446949B3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D7DE29BD-7776-B578-3BE0-6847F76598F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8DAF0666-0155-B3AC-2064-4259CDDB6C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38548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TERMOS UTILIZADOS POR Dee </a:t>
            </a:r>
            <a:r>
              <a:rPr lang="pt-BR" sz="4950" b="1" spc="-15" dirty="0" err="1">
                <a:solidFill>
                  <a:srgbClr val="FFFFFF"/>
                </a:solidFill>
                <a:latin typeface="Montserrat ExtraBold"/>
                <a:cs typeface="Montserrat ExtraBold"/>
              </a:rPr>
              <a:t>Hock</a:t>
            </a: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.</a:t>
            </a:r>
            <a:endParaRPr sz="4950" dirty="0">
              <a:latin typeface="Montserrat ExtraBold"/>
              <a:cs typeface="Montserrat ExtraBold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4695D593-9032-A6B8-1D3A-FC9AF1351791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7C0C594-7676-B45C-5E75-385647DA81F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1292C635-336A-C252-C6D1-4BB3209C3A6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0FCECD75-E079-A9D0-761A-18BE7A88D143}"/>
              </a:ext>
            </a:extLst>
          </p:cNvPr>
          <p:cNvSpPr txBox="1"/>
          <p:nvPr/>
        </p:nvSpPr>
        <p:spPr>
          <a:xfrm>
            <a:off x="1502714" y="2173132"/>
            <a:ext cx="14478579" cy="8956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800" spc="-25" dirty="0">
                <a:solidFill>
                  <a:srgbClr val="FFFFFF"/>
                </a:solidFill>
                <a:latin typeface="Montserrat"/>
                <a:cs typeface="Montserrat"/>
              </a:rPr>
              <a:t>Cordeiro e o leão da vida</a:t>
            </a:r>
            <a:endParaRPr lang="pt-BR" sz="4800" b="1" spc="-25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4800" spc="-25" dirty="0">
                <a:solidFill>
                  <a:srgbClr val="FFFFFF"/>
                </a:solidFill>
                <a:latin typeface="Montserrat"/>
                <a:cs typeface="Montserrat"/>
              </a:rPr>
              <a:t>Interesse próprio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4800" b="1" spc="-25" dirty="0">
                <a:solidFill>
                  <a:srgbClr val="FFFFFF"/>
                </a:solidFill>
                <a:latin typeface="Montserrat"/>
                <a:cs typeface="Montserrat"/>
              </a:rPr>
              <a:t>I n t e r e s </a:t>
            </a:r>
            <a:r>
              <a:rPr lang="pt-BR" sz="4800" b="1" spc="-25" dirty="0" err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r>
              <a:rPr lang="pt-BR" sz="4800" b="1" spc="-25" dirty="0">
                <a:solidFill>
                  <a:srgbClr val="FFFFFF"/>
                </a:solidFill>
                <a:latin typeface="Montserrat"/>
                <a:cs typeface="Montserrat"/>
              </a:rPr>
              <a:t> e   d a   c o m u n i d a d 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4800" spc="-25" dirty="0">
                <a:solidFill>
                  <a:srgbClr val="FFFFFF"/>
                </a:solidFill>
                <a:latin typeface="Montserrat"/>
                <a:cs typeface="Montserrat"/>
              </a:rPr>
              <a:t>Ligados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4800" spc="-25" dirty="0">
              <a:solidFill>
                <a:schemeClr val="bg1"/>
              </a:solidFill>
              <a:latin typeface="Montserrat"/>
            </a:endParaRPr>
          </a:p>
          <a:p>
            <a:pPr lvl="1"/>
            <a:r>
              <a:rPr lang="pt-BR" sz="4800" dirty="0">
                <a:solidFill>
                  <a:schemeClr val="bg1"/>
                </a:solidFill>
              </a:rPr>
              <a:t>“A troca não-monetária de valor é o sistema mais eficaz</a:t>
            </a:r>
          </a:p>
          <a:p>
            <a:pPr lvl="1"/>
            <a:r>
              <a:rPr lang="pt-BR" sz="4800" dirty="0">
                <a:solidFill>
                  <a:schemeClr val="bg1"/>
                </a:solidFill>
              </a:rPr>
              <a:t>e construtivo que já foi inventado”</a:t>
            </a:r>
          </a:p>
          <a:p>
            <a:pPr lvl="1"/>
            <a:endParaRPr lang="pt-BR" sz="4800" dirty="0">
              <a:solidFill>
                <a:schemeClr val="bg1"/>
              </a:solidFill>
            </a:endParaRPr>
          </a:p>
          <a:p>
            <a:pPr marL="1143000" lvl="1" indent="-685800">
              <a:buFontTx/>
              <a:buChar char="-"/>
            </a:pPr>
            <a:r>
              <a:rPr lang="pt-BR" sz="4800" dirty="0">
                <a:solidFill>
                  <a:schemeClr val="bg1"/>
                </a:solidFill>
              </a:rPr>
              <a:t>Interesses comuns:</a:t>
            </a:r>
          </a:p>
          <a:p>
            <a:pPr marL="1600200" lvl="2" indent="-685800">
              <a:buFontTx/>
              <a:buChar char="-"/>
            </a:pPr>
            <a:r>
              <a:rPr lang="pt-BR" sz="4800" dirty="0">
                <a:solidFill>
                  <a:schemeClr val="bg1"/>
                </a:solidFill>
              </a:rPr>
              <a:t>Crescer profissionalmente</a:t>
            </a:r>
          </a:p>
          <a:p>
            <a:pPr marL="1600200" lvl="2" indent="-685800">
              <a:buFontTx/>
              <a:buChar char="-"/>
            </a:pPr>
            <a:r>
              <a:rPr lang="pt-BR" sz="4800" dirty="0">
                <a:solidFill>
                  <a:schemeClr val="bg1"/>
                </a:solidFill>
              </a:rPr>
              <a:t>Formar cidadãos profissionais</a:t>
            </a:r>
          </a:p>
          <a:p>
            <a:pPr marL="1600200" lvl="2" indent="-685800">
              <a:buFontTx/>
              <a:buChar char="-"/>
            </a:pPr>
            <a:r>
              <a:rPr lang="pt-BR" sz="4800" dirty="0">
                <a:solidFill>
                  <a:schemeClr val="bg1"/>
                </a:solidFill>
              </a:rPr>
              <a:t>Aumentar competitividade</a:t>
            </a:r>
          </a:p>
        </p:txBody>
      </p:sp>
    </p:spTree>
    <p:extLst>
      <p:ext uri="{BB962C8B-B14F-4D97-AF65-F5344CB8AC3E}">
        <p14:creationId xmlns:p14="http://schemas.microsoft.com/office/powerpoint/2010/main" val="559799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774784"/>
            <a:ext cx="20104100" cy="8534400"/>
            <a:chOff x="0" y="2774784"/>
            <a:chExt cx="20104100" cy="8534400"/>
          </a:xfrm>
        </p:grpSpPr>
        <p:sp>
          <p:nvSpPr>
            <p:cNvPr id="8" name="object 8"/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560101"/>
              <a:ext cx="11821629" cy="77484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TERMOS de Dee </a:t>
            </a:r>
            <a:r>
              <a:rPr lang="pt-BR" sz="4950" b="1" spc="-15" dirty="0" err="1">
                <a:latin typeface="Montserrat ExtraBold"/>
                <a:cs typeface="Montserrat ExtraBold"/>
              </a:rPr>
              <a:t>Hock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LIDERANÇA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32678" y="6086775"/>
            <a:ext cx="6158865" cy="226600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90"/>
              </a:spcBef>
            </a:pPr>
            <a:r>
              <a:rPr lang="pt-BR" sz="3600" spc="-20" dirty="0">
                <a:solidFill>
                  <a:srgbClr val="4D4D4D"/>
                </a:solidFill>
                <a:latin typeface="Montserrat"/>
                <a:cs typeface="Montserrat"/>
              </a:rPr>
              <a:t>“Não existe trabalho ruim, só trabalho malfeito, pouco reconhecido</a:t>
            </a:r>
          </a:p>
          <a:p>
            <a:pPr marL="12700" marR="5080">
              <a:lnSpc>
                <a:spcPct val="100000"/>
              </a:lnSpc>
              <a:spcBef>
                <a:spcPts val="190"/>
              </a:spcBef>
            </a:pPr>
            <a:r>
              <a:rPr lang="pt-BR" sz="3600" spc="-20" dirty="0">
                <a:solidFill>
                  <a:srgbClr val="4D4D4D"/>
                </a:solidFill>
                <a:latin typeface="Montserrat"/>
                <a:cs typeface="Montserrat"/>
              </a:rPr>
              <a:t>ou mal pago”</a:t>
            </a:r>
            <a:r>
              <a:rPr sz="3600" spc="-15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32678" y="4098774"/>
            <a:ext cx="4194810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lang="pt-BR" sz="44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Citação</a:t>
            </a:r>
            <a:endParaRPr sz="4400" dirty="0">
              <a:latin typeface="Montserrat ExtraBold"/>
              <a:cs typeface="Montserrat ExtraBold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D897531-F013-C3C8-0FB4-F154275E97D0}"/>
              </a:ext>
            </a:extLst>
          </p:cNvPr>
          <p:cNvSpPr txBox="1"/>
          <p:nvPr/>
        </p:nvSpPr>
        <p:spPr>
          <a:xfrm>
            <a:off x="596395" y="4314410"/>
            <a:ext cx="73133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 do fracasso que geralmente vem</a:t>
            </a:r>
          </a:p>
          <a:p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desenvolvimento e o mérito.</a:t>
            </a:r>
            <a:endParaRPr lang="pt-BR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55337C4-E428-A5DA-A7D1-4533D9A5FE50}"/>
              </a:ext>
            </a:extLst>
          </p:cNvPr>
          <p:cNvSpPr txBox="1"/>
          <p:nvPr/>
        </p:nvSpPr>
        <p:spPr>
          <a:xfrm>
            <a:off x="7416220" y="6485088"/>
            <a:ext cx="398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reconhecê-lo,</a:t>
            </a:r>
          </a:p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admiti-lo,</a:t>
            </a:r>
          </a:p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aprender com ele.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3A2CC5D-8203-2E75-E897-6A4C5B3EE1E3}"/>
              </a:ext>
            </a:extLst>
          </p:cNvPr>
          <p:cNvSpPr txBox="1"/>
          <p:nvPr/>
        </p:nvSpPr>
        <p:spPr>
          <a:xfrm>
            <a:off x="1047072" y="10145090"/>
            <a:ext cx="103132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Estamos ao mesmo tempo liderando e seguindo.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5E15-FA85-2E01-3882-14AAB96AC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466554-9FFE-864E-D01F-D359D1926032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A034FF5-9E84-EA97-18F9-91CAF64E9F4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5C8431C-70B0-42DC-A7BB-A5941E61D11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E6072E8-5214-229F-BA84-61B6C4830DC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EC8EAA2-158F-1076-A37F-20A2B6AE5AB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C4620D63-CADA-2B58-8BC8-B78AFC05971C}"/>
              </a:ext>
            </a:extLst>
          </p:cNvPr>
          <p:cNvGrpSpPr/>
          <p:nvPr/>
        </p:nvGrpSpPr>
        <p:grpSpPr>
          <a:xfrm>
            <a:off x="0" y="2774784"/>
            <a:ext cx="20104100" cy="8534400"/>
            <a:chOff x="0" y="2774784"/>
            <a:chExt cx="20104100" cy="853440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6628397-5FE5-E563-0378-E0CFC8E47ED1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E16DBA1F-B6F1-B275-D33C-682DF07E61B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2BA0CF8-2CCC-C343-3107-83AD5BAD20DC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EC4A33B-2D93-080B-BE6C-D571DB82D70D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4FAD1933-454F-9284-1C0A-AE1C4919091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60101"/>
              <a:ext cx="11821629" cy="7748455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D6322BD-388D-1EEA-9C05-48CF7B3A218A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50C2141-FDB4-660E-C6D6-3472F4B116D6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6CD379BB-C1CC-B529-1E04-5FDFF05EC4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TERMOS de Dee </a:t>
            </a:r>
            <a:r>
              <a:rPr lang="pt-BR" sz="4950" b="1" spc="-15" dirty="0" err="1">
                <a:latin typeface="Montserrat ExtraBold"/>
                <a:cs typeface="Montserrat ExtraBold"/>
              </a:rPr>
              <a:t>Hock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TEMPO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836C8C9-BFB1-C0B6-A3A6-13C8EF19E093}"/>
              </a:ext>
            </a:extLst>
          </p:cNvPr>
          <p:cNvSpPr txBox="1"/>
          <p:nvPr/>
        </p:nvSpPr>
        <p:spPr>
          <a:xfrm>
            <a:off x="12332678" y="6086775"/>
            <a:ext cx="6158865" cy="282000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90"/>
              </a:spcBef>
            </a:pPr>
            <a:r>
              <a:rPr lang="pt-BR" sz="3600" spc="-20" dirty="0">
                <a:solidFill>
                  <a:srgbClr val="4D4D4D"/>
                </a:solidFill>
                <a:latin typeface="Montserrat"/>
                <a:cs typeface="Montserrat"/>
              </a:rPr>
              <a:t>“O passado está cada vez menos profético, o futuro cada vez menos previsível</a:t>
            </a:r>
          </a:p>
          <a:p>
            <a:pPr marL="12700" marR="5080">
              <a:lnSpc>
                <a:spcPct val="100000"/>
              </a:lnSpc>
              <a:spcBef>
                <a:spcPts val="190"/>
              </a:spcBef>
            </a:pPr>
            <a:r>
              <a:rPr lang="pt-BR" sz="3600" spc="-20" dirty="0">
                <a:solidFill>
                  <a:srgbClr val="4D4D4D"/>
                </a:solidFill>
                <a:latin typeface="Montserrat"/>
                <a:cs typeface="Montserrat"/>
              </a:rPr>
              <a:t>e o presente quase não existe”</a:t>
            </a:r>
            <a:r>
              <a:rPr sz="3600" spc="-15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B760BFE-752E-ED66-05BD-E34C9A5C2DDD}"/>
              </a:ext>
            </a:extLst>
          </p:cNvPr>
          <p:cNvSpPr txBox="1"/>
          <p:nvPr/>
        </p:nvSpPr>
        <p:spPr>
          <a:xfrm>
            <a:off x="12332678" y="4098774"/>
            <a:ext cx="4194810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lang="pt-BR" sz="44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Citação</a:t>
            </a:r>
            <a:endParaRPr sz="4400" dirty="0">
              <a:latin typeface="Montserrat ExtraBold"/>
              <a:cs typeface="Montserrat ExtraBold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320781A-6A40-18B2-B69D-111995D15FF7}"/>
              </a:ext>
            </a:extLst>
          </p:cNvPr>
          <p:cNvSpPr txBox="1"/>
          <p:nvPr/>
        </p:nvSpPr>
        <p:spPr>
          <a:xfrm>
            <a:off x="463610" y="4409152"/>
            <a:ext cx="3960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Flutuação da vida.</a:t>
            </a:r>
            <a:endParaRPr lang="pt-BR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D5AC2DA-3EA9-F04A-8AB3-06A542ED504D}"/>
              </a:ext>
            </a:extLst>
          </p:cNvPr>
          <p:cNvSpPr txBox="1"/>
          <p:nvPr/>
        </p:nvSpPr>
        <p:spPr>
          <a:xfrm>
            <a:off x="7416220" y="6485088"/>
            <a:ext cx="268047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Informação,</a:t>
            </a:r>
          </a:p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Científica,</a:t>
            </a:r>
          </a:p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Cultural,</a:t>
            </a:r>
          </a:p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Espacial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08BFC09-0167-26C6-273F-93F7B62CA5F0}"/>
              </a:ext>
            </a:extLst>
          </p:cNvPr>
          <p:cNvSpPr txBox="1"/>
          <p:nvPr/>
        </p:nvSpPr>
        <p:spPr>
          <a:xfrm>
            <a:off x="980078" y="9617509"/>
            <a:ext cx="92709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Tudo é mudança acelerada.</a:t>
            </a:r>
          </a:p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 houve perda de flutuação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3124837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0" y="0"/>
            <a:ext cx="14313700" cy="11308556"/>
            <a:chOff x="0" y="0"/>
            <a:chExt cx="14313700" cy="11308556"/>
          </a:xfrm>
        </p:grpSpPr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4313700" cy="1130855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95174" y="77760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15147595" y="4357774"/>
            <a:ext cx="4695083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As organizações saudáveis</a:t>
            </a:r>
            <a:b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</a:br>
            <a: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induzem o comportamento. As organizações doentias o forçam</a:t>
            </a:r>
            <a:endParaRPr sz="40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06893E84-8409-8914-EA02-742956979C2C}"/>
              </a:ext>
            </a:extLst>
          </p:cNvPr>
          <p:cNvSpPr txBox="1"/>
          <p:nvPr/>
        </p:nvSpPr>
        <p:spPr>
          <a:xfrm>
            <a:off x="1078290" y="7881926"/>
            <a:ext cx="115363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As organizações saudáveis induzem o comportamento.</a:t>
            </a:r>
          </a:p>
          <a:p>
            <a:r>
              <a:rPr lang="pt-BR" sz="4000" dirty="0">
                <a:solidFill>
                  <a:schemeClr val="bg1"/>
                </a:solidFill>
              </a:rPr>
              <a:t>As organizações doentias o forçam.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C2BC4182-1B83-686E-6296-9508E4FFB1B3}"/>
              </a:ext>
            </a:extLst>
          </p:cNvPr>
          <p:cNvSpPr txBox="1"/>
          <p:nvPr/>
        </p:nvSpPr>
        <p:spPr>
          <a:xfrm>
            <a:off x="1076619" y="914604"/>
            <a:ext cx="6521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pt-BR" sz="4000" dirty="0"/>
              <a:t>Nada a perder</a:t>
            </a:r>
          </a:p>
          <a:p>
            <a:pPr marL="571500" indent="-571500">
              <a:buFontTx/>
              <a:buChar char="-"/>
            </a:pPr>
            <a:r>
              <a:rPr lang="pt-BR" sz="4000" dirty="0"/>
              <a:t>O impossível imaginado</a:t>
            </a:r>
          </a:p>
          <a:p>
            <a:pPr marL="571500" indent="-571500">
              <a:buFontTx/>
              <a:buChar char="-"/>
            </a:pPr>
            <a:r>
              <a:rPr lang="pt-BR" sz="4000" dirty="0"/>
              <a:t>A penúltima palavra</a:t>
            </a:r>
          </a:p>
          <a:p>
            <a:pPr marL="571500" indent="-571500">
              <a:buFontTx/>
              <a:buChar char="-"/>
            </a:pPr>
            <a:r>
              <a:rPr lang="pt-BR" sz="4000" dirty="0"/>
              <a:t>A corporação ou a bengala?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839AB9DB-225E-5B55-A378-026598D49C04}"/>
              </a:ext>
            </a:extLst>
          </p:cNvPr>
          <p:cNvSpPr txBox="1"/>
          <p:nvPr/>
        </p:nvSpPr>
        <p:spPr>
          <a:xfrm>
            <a:off x="1012082" y="9323606"/>
            <a:ext cx="115363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O verdadeiro poder nunca é usado. Quem usa o poder,</a:t>
            </a:r>
          </a:p>
          <a:p>
            <a:r>
              <a:rPr lang="pt-BR" sz="4000" dirty="0">
                <a:solidFill>
                  <a:schemeClr val="bg1"/>
                </a:solidFill>
              </a:rPr>
              <a:t>nunca o tem de verdade.</a:t>
            </a:r>
          </a:p>
        </p:txBody>
      </p:sp>
      <p:sp>
        <p:nvSpPr>
          <p:cNvPr id="80" name="object 71">
            <a:extLst>
              <a:ext uri="{FF2B5EF4-FFF2-40B4-BE49-F238E27FC236}">
                <a16:creationId xmlns:a16="http://schemas.microsoft.com/office/drawing/2014/main" id="{3D581306-6F89-0E17-9D98-FEC66CDA5417}"/>
              </a:ext>
            </a:extLst>
          </p:cNvPr>
          <p:cNvSpPr/>
          <p:nvPr/>
        </p:nvSpPr>
        <p:spPr>
          <a:xfrm>
            <a:off x="5547574" y="7928485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6692-99A3-AFF0-090C-BC939828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2D79BA5-083A-56BB-0031-5D7A9912340E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5CE8FA6-E12D-0BB9-857E-0166D2FA9CEA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0DC678-1397-F2BE-DA49-968094641074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53019A8-9579-AF05-CF3E-D8360ECD583E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9141FCC-2789-927C-F271-1A9F4677AAC5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2EA5713-6074-3C9F-4D38-8870B24EF4AE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DF0F9F5-6F5C-10AA-0C0C-BEC01A13D3B7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A5220F0-B18A-4357-C8F8-BCF8910F3BE6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B489B1B-C232-3ED6-E839-A51250EFE8C6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1B80E05-7599-DC14-0860-1DF597C06FFC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FB46693-01CD-DF8F-A6CC-D75DCCB89B14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D80A928-D3F1-757B-6097-88248CCDFE20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912C762-25E2-0441-D0CC-19CC69980DC4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18B7F1D-86E2-57BE-4752-CBF47444C240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1EDE028-591E-69B1-D0D5-C989FDAE91A0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ADA3CD5-30F8-5C03-2EE5-3C70C674ADCE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BDA5338-9B41-7BB0-A013-DA0690BC4421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DBFE36B-0AA5-8BC1-861C-59EC7ED28260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22A44E4-95CB-665F-AF6F-3F34B5E099AE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A8C01B9-728B-3D7A-FF1A-C5338B961061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888A089-2599-AAB3-B4F9-BC766DCD1502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794906F6-6A94-F9F6-BF75-88600910585A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41B8515-CCBA-C76B-48C5-AB954EEA1B27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83E8E60-6E06-3EB6-F7D1-2F073BD93B67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41646EB7-6C39-083A-DB39-9E88BA97E29D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429AACE-17AA-42E4-6C6B-FD84084AE8FA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03E80F1B-96BB-B77C-9BA1-4415963D9D66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80F748D1-77BC-C135-FB5D-4D636BEE870C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61C1A6AA-9460-DCC1-5FCD-8990C0353BCF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9DB0E63-A773-0A74-261C-4DAD3B2BB4B5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03C6814-2479-501D-4270-827F91D718C1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5A2D4A8-30BA-EE04-4DB9-2320E3F0774E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8977EC02-6059-B53B-B1CA-D36C6003AA64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2B6593B7-975A-17C2-2387-027136526A2D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7939A07-0F58-B9AD-A53B-F0DC9D236E49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A074419B-A7FD-21D4-6A4E-E29614D3C2ED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3E3C508A-62B1-E874-47FD-08988AE36E6B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A5596812-124F-08B3-ACF7-925087166C55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13AB52D4-783F-42C7-023A-F9D46765FE8C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BCEAB691-D538-FAFF-5757-CF32D9F2AC6F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3F9F87B0-9494-631E-7477-8F76E35CF3CD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3840D902-0BFB-2F3A-1D26-F74CC853FF50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7426E5B5-1AA8-5B12-2CAD-EE032976F7DA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2C5DB73A-4807-148C-7818-DE792CD7B581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1A6A9058-D19E-D9E5-80B1-DC9FE6CBFD64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DF2DCF68-5E94-2D57-5FA5-AD35AD5B5971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5DB58633-9ED8-C5A5-F28E-232E4790F3AB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16F2C800-4A81-0236-629A-8FAEF8E91D92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92F80252-1D8D-4B69-0A58-FD152CAFF708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A0F28C08-DBFA-B144-4B38-94ECFAB0D45D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4944A2C0-ADA5-196D-F83A-D8E83432D046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60588403-0E8D-34C5-CC95-FD25317C754A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E60567A8-8FB5-2C46-14A5-1EA470744534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ECD5058C-94AD-2682-E939-1DFFF36F1952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A87BCD55-2AD7-FC6B-0F42-2BC5CD82E52C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5C6D8A10-892A-86A7-56ED-E0C2E50B7605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393B5E77-39FA-4499-36A0-7AC71CE9EF4E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01FA7B09-A896-6056-26E6-46CC9CB8B0E2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447E22BC-48CE-2B1C-C2F8-BCF15FC6447E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ED40644E-D02D-0688-B03C-7DEB29C22C81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D9A16F78-B882-6A66-3C35-C1D224DDD864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1CF6971D-D351-A47D-CFF2-8D61A6C46F23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DF49DA44-8024-FFEC-1D44-337F13F5DC59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ED1D24F0-CE55-E82A-E107-EEB65B6F7956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CEE88E85-D6E3-ABE8-E2D7-5878C6CA6812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6F203622-3A06-EA14-8971-165823D9B5E6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2B931BF7-37D9-0C25-C19D-6B8C3EDA9EEB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>
            <a:extLst>
              <a:ext uri="{FF2B5EF4-FFF2-40B4-BE49-F238E27FC236}">
                <a16:creationId xmlns:a16="http://schemas.microsoft.com/office/drawing/2014/main" id="{6AB58BD0-A918-1DAD-2575-4430011993E6}"/>
              </a:ext>
            </a:extLst>
          </p:cNvPr>
          <p:cNvGrpSpPr/>
          <p:nvPr/>
        </p:nvGrpSpPr>
        <p:grpSpPr>
          <a:xfrm>
            <a:off x="0" y="0"/>
            <a:ext cx="14313700" cy="11308556"/>
            <a:chOff x="0" y="0"/>
            <a:chExt cx="14313700" cy="11308556"/>
          </a:xfrm>
        </p:grpSpPr>
        <p:pic>
          <p:nvPicPr>
            <p:cNvPr id="70" name="object 70">
              <a:extLst>
                <a:ext uri="{FF2B5EF4-FFF2-40B4-BE49-F238E27FC236}">
                  <a16:creationId xmlns:a16="http://schemas.microsoft.com/office/drawing/2014/main" id="{724F090D-9607-ED86-C35A-99B2344364E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4313700" cy="11308556"/>
            </a:xfrm>
            <a:prstGeom prst="rect">
              <a:avLst/>
            </a:prstGeom>
          </p:spPr>
        </p:pic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7298A89E-BA51-EADE-0335-92DE8AAB65D5}"/>
                </a:ext>
              </a:extLst>
            </p:cNvPr>
            <p:cNvSpPr/>
            <p:nvPr/>
          </p:nvSpPr>
          <p:spPr>
            <a:xfrm>
              <a:off x="5395174" y="77760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>
            <a:extLst>
              <a:ext uri="{FF2B5EF4-FFF2-40B4-BE49-F238E27FC236}">
                <a16:creationId xmlns:a16="http://schemas.microsoft.com/office/drawing/2014/main" id="{FBCCCEE7-E0BD-6A39-2684-3350BEE1B1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47595" y="4357774"/>
            <a:ext cx="4695083" cy="2474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Ego,</a:t>
            </a:r>
            <a:b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</a:br>
            <a: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a Inveja,</a:t>
            </a:r>
            <a:b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</a:br>
            <a: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a Avareza</a:t>
            </a:r>
            <a:b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</a:br>
            <a: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e a Ambição</a:t>
            </a:r>
            <a:endParaRPr sz="40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54ADA450-B2AE-806B-0678-C7204D043DA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E81E3534-8254-4D94-FBB9-F93DFB65B0D0}"/>
              </a:ext>
            </a:extLst>
          </p:cNvPr>
          <p:cNvSpPr txBox="1"/>
          <p:nvPr/>
        </p:nvSpPr>
        <p:spPr>
          <a:xfrm>
            <a:off x="836030" y="7862685"/>
            <a:ext cx="116025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Nas circunstâncias corretas, tendo apenas sonhos,</a:t>
            </a:r>
          </a:p>
          <a:p>
            <a:r>
              <a:rPr lang="pt-BR" sz="4000" dirty="0">
                <a:solidFill>
                  <a:schemeClr val="bg1"/>
                </a:solidFill>
              </a:rPr>
              <a:t>Determinação e liberdade para tentar, pessoas comuns</a:t>
            </a:r>
          </a:p>
          <a:p>
            <a:r>
              <a:rPr lang="pt-BR" sz="4000" dirty="0">
                <a:solidFill>
                  <a:schemeClr val="bg1"/>
                </a:solidFill>
              </a:rPr>
              <a:t>Fazem sempre coisas extraordinárias.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F469A233-8857-7F5F-45ED-C6405F2DA082}"/>
              </a:ext>
            </a:extLst>
          </p:cNvPr>
          <p:cNvSpPr txBox="1"/>
          <p:nvPr/>
        </p:nvSpPr>
        <p:spPr>
          <a:xfrm>
            <a:off x="1076619" y="914604"/>
            <a:ext cx="579139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pt-BR" sz="4000" dirty="0"/>
              <a:t>Então faltava um</a:t>
            </a:r>
          </a:p>
          <a:p>
            <a:pPr marL="571500" indent="-571500">
              <a:buFontTx/>
              <a:buChar char="-"/>
            </a:pPr>
            <a:r>
              <a:rPr lang="pt-BR" sz="4000" dirty="0"/>
              <a:t>Pessoas muito comuns</a:t>
            </a:r>
          </a:p>
          <a:p>
            <a:pPr marL="571500" indent="-571500">
              <a:buFontTx/>
              <a:buChar char="-"/>
            </a:pPr>
            <a:r>
              <a:rPr lang="pt-BR" sz="4000" dirty="0"/>
              <a:t>Vítima do sucesso</a:t>
            </a:r>
          </a:p>
          <a:p>
            <a:pPr marL="571500" indent="-571500">
              <a:buFontTx/>
              <a:buChar char="-"/>
            </a:pPr>
            <a:r>
              <a:rPr lang="pt-BR" sz="4000" dirty="0"/>
              <a:t>Uma lembrança de ouro</a:t>
            </a:r>
          </a:p>
        </p:txBody>
      </p:sp>
      <p:sp>
        <p:nvSpPr>
          <p:cNvPr id="80" name="object 71">
            <a:extLst>
              <a:ext uri="{FF2B5EF4-FFF2-40B4-BE49-F238E27FC236}">
                <a16:creationId xmlns:a16="http://schemas.microsoft.com/office/drawing/2014/main" id="{9A871303-0DCD-129E-0BA4-9345912C11B7}"/>
              </a:ext>
            </a:extLst>
          </p:cNvPr>
          <p:cNvSpPr/>
          <p:nvPr/>
        </p:nvSpPr>
        <p:spPr>
          <a:xfrm>
            <a:off x="5547574" y="7928485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6B0ED31F-3555-1573-8DB5-68CBA819BD30}"/>
              </a:ext>
            </a:extLst>
          </p:cNvPr>
          <p:cNvSpPr txBox="1"/>
          <p:nvPr/>
        </p:nvSpPr>
        <p:spPr>
          <a:xfrm>
            <a:off x="6105617" y="4731855"/>
            <a:ext cx="83555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4000" b="0" i="0" u="none" strike="noStrike" baseline="0" dirty="0">
                <a:solidFill>
                  <a:schemeClr val="bg1"/>
                </a:solidFill>
                <a:latin typeface="Helvetica" panose="020B0604020202020204" pitchFamily="34" charset="0"/>
              </a:rPr>
              <a:t>a vontade de conseguir sucesso e</a:t>
            </a:r>
          </a:p>
          <a:p>
            <a:pPr algn="l"/>
            <a:r>
              <a:rPr lang="pt-BR" sz="4000" b="0" i="0" u="none" strike="noStrike" baseline="0" dirty="0">
                <a:solidFill>
                  <a:schemeClr val="bg1"/>
                </a:solidFill>
                <a:latin typeface="Helvetica" panose="020B0604020202020204" pitchFamily="34" charset="0"/>
              </a:rPr>
              <a:t>a gra</a:t>
            </a:r>
            <a:r>
              <a:rPr lang="pt-BR" sz="4000" b="0" i="0" u="none" strike="noStrike" baseline="0" dirty="0">
                <a:solidFill>
                  <a:schemeClr val="bg1"/>
                </a:solidFill>
                <a:latin typeface="Times-Roman"/>
              </a:rPr>
              <a:t>ç</a:t>
            </a:r>
            <a:r>
              <a:rPr lang="pt-BR" sz="4000" b="0" i="0" u="none" strike="noStrike" baseline="0" dirty="0">
                <a:solidFill>
                  <a:schemeClr val="bg1"/>
                </a:solidFill>
                <a:latin typeface="Helvetica" panose="020B0604020202020204" pitchFamily="34" charset="0"/>
              </a:rPr>
              <a:t>a da concilia</a:t>
            </a:r>
            <a:r>
              <a:rPr lang="pt-BR" sz="4000" b="0" i="0" u="none" strike="noStrike" baseline="0" dirty="0">
                <a:solidFill>
                  <a:schemeClr val="bg1"/>
                </a:solidFill>
                <a:latin typeface="Times-Roman"/>
              </a:rPr>
              <a:t>çã</a:t>
            </a:r>
            <a:r>
              <a:rPr lang="pt-BR" sz="4000" b="0" i="0" u="none" strike="noStrike" baseline="0" dirty="0">
                <a:solidFill>
                  <a:schemeClr val="bg1"/>
                </a:solidFill>
                <a:latin typeface="Helvetica" panose="020B0604020202020204" pitchFamily="34" charset="0"/>
              </a:rPr>
              <a:t>o</a:t>
            </a:r>
            <a:endParaRPr lang="pt-BR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282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99528-4E08-1834-FBFA-0F5CD686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96A12C0-66C5-8894-D99A-65B80E32F01B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B363D4B-0220-D757-32D8-CD71E53EB798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6426E9F-EF70-B94A-30B7-11826E96AB49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513C775C-2650-0872-6F5B-58463C33435E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7B34DD6-0A96-EAD1-C2FB-0671E5530376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7234DE9-8279-A9C0-A308-179183B07B5C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B7D29A4-1D56-3DE1-5C47-6F6F742AEE59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68AB769-29F3-8439-9F23-F0584BAC5A46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F02AA22-8315-8C2B-CF11-ECFFEF0C4DB5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7F5D0AD-FC0D-44AB-5898-0FFDDEA88881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2B79205-0ACE-5DB3-7187-7A797CBEFAB7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FAAAEDF-073A-4391-487A-7B7E0055AC13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43A1259-A664-E449-454B-F13BA3ABA26F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58E2436-BB3B-DB39-FF91-10B2759A0110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2F7934E-886C-6823-04CA-8F926664A292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0E8D50A-C112-6DEA-B8EA-2D43333A6F33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D875B07-C80E-6C9D-817A-2AD8F9F883CC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96B5A6F-ACDC-5D88-7AD9-AD8C15D3D396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E0DE3FC-EC16-7FD6-BC8B-2C1CF52C4265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8DC68EF-3EEC-091A-7FA9-B282E94FAB5C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5368A04-179D-9879-C58C-C66BC1521980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8641A6DF-18E0-21BB-2588-D984DABC4956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27692F8-5F13-BE21-BDC7-118DC15FDC4C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6DFEC3A-CE9F-69C6-B0E5-F1973A971D87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0568605C-0489-9989-8983-025549DE397F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D84D0A55-CBF0-4E5D-2BC9-6324C39AB279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A411A5C9-2B31-DD11-C69F-5DA4F0B5709F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43FB067-04EC-F25C-4CA0-4D33A20D76D9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380DBB81-0F73-CBCA-8D39-D31A1D04B721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8EAE6B9E-1DFD-DAA1-2760-D1693D7D1B14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4E47E61-44DC-D01B-6E30-B602B41F5013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A3F3CD70-02EC-80A0-3939-4B60646628C7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BE121AA2-1937-CF6F-F1EC-F764D4468CE3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E2567EB1-E47E-6BA5-F6FE-C04ED8E37322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8FB4A84B-571B-84B0-2BCF-06EA4155E84E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4D98397D-52FD-9B3A-7934-07C6BF4FB555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40D36DAB-775F-AAA0-2590-CFE0FEE7CAF5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387CF368-34E7-3056-4A95-F0908803DD76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AA86DE9D-8F20-6B64-CCF4-344C27512A22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39D4F5C-B158-FF01-351C-DAE22806E94A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821635C-EF2C-6969-05EC-C7F006AF79B0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46D3DFF8-AC5D-24A3-BABB-3088C3CE39A5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F908D338-DD9B-3C24-B49B-24E41D5690E3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EB1AA668-B890-1CD9-58FA-850CECFCC8AB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D63EB1DC-BCD3-BF53-275D-66797E64D4D7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0A796F89-9081-1B4A-DA62-F9AF57685E30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0B73573F-BFE8-B093-3A0E-49A57B258B2A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70262028-9342-A889-B58C-9F4ACA333269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F6B06CE9-2ECE-0FDC-39C3-CD4C7DD89609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934D910E-D61E-9863-0C33-67ACC462A6E8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F132D4DD-1153-235B-E038-6A84945B173B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2B90D60B-3A19-6237-940C-499082D0656C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2A3AF73F-814B-BDE0-2D33-EC1EB00BDE66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D4B6EBE1-A158-27DF-314C-5EC42B41EE79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BE9B92C2-5904-A831-0AA9-B59AE13495C0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A57DB9CC-1443-DECF-DEE1-C1F12162B802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0320D72B-1A92-0EF5-C658-7CCE9EBFF046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D4379F0-A396-4916-D6A2-51D5BCE41707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33EE671-A516-8946-F459-F7E6F1F7BDEB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2EAB818F-516F-5539-1242-2842EECF538C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346F915B-C2CA-BD00-9673-2B59588CF3E4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166102B7-92AC-90F3-BB40-A343C86A8994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121CED85-57ED-CB47-20ED-F9FA4A95FCD3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A495783D-C860-E6FA-6A75-EADDF0563F83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64F0EDD4-25ED-DAB1-5583-47A9F7415826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03D6A73F-1192-34BD-D330-161F60848EB7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428A1600-8242-B222-7443-980C1DCEAF44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>
            <a:extLst>
              <a:ext uri="{FF2B5EF4-FFF2-40B4-BE49-F238E27FC236}">
                <a16:creationId xmlns:a16="http://schemas.microsoft.com/office/drawing/2014/main" id="{0C953D82-0A57-BB37-47E3-53E9D14D5F37}"/>
              </a:ext>
            </a:extLst>
          </p:cNvPr>
          <p:cNvGrpSpPr/>
          <p:nvPr/>
        </p:nvGrpSpPr>
        <p:grpSpPr>
          <a:xfrm>
            <a:off x="0" y="0"/>
            <a:ext cx="14313700" cy="11308556"/>
            <a:chOff x="0" y="0"/>
            <a:chExt cx="14313700" cy="11308556"/>
          </a:xfrm>
        </p:grpSpPr>
        <p:pic>
          <p:nvPicPr>
            <p:cNvPr id="70" name="object 70">
              <a:extLst>
                <a:ext uri="{FF2B5EF4-FFF2-40B4-BE49-F238E27FC236}">
                  <a16:creationId xmlns:a16="http://schemas.microsoft.com/office/drawing/2014/main" id="{064693A7-46D6-C51D-B586-DCE124A823F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4313700" cy="11308556"/>
            </a:xfrm>
            <a:prstGeom prst="rect">
              <a:avLst/>
            </a:prstGeom>
          </p:spPr>
        </p:pic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9B5A83B5-9FDE-5418-D208-FCAAD0D7472D}"/>
                </a:ext>
              </a:extLst>
            </p:cNvPr>
            <p:cNvSpPr/>
            <p:nvPr/>
          </p:nvSpPr>
          <p:spPr>
            <a:xfrm>
              <a:off x="5395174" y="77760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>
            <a:extLst>
              <a:ext uri="{FF2B5EF4-FFF2-40B4-BE49-F238E27FC236}">
                <a16:creationId xmlns:a16="http://schemas.microsoft.com/office/drawing/2014/main" id="{EBAEC919-E0C1-BD2C-3871-FBEE7AC4BB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47595" y="4357774"/>
            <a:ext cx="4695083" cy="30899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Elas são mais semelhantes à organização dos neurônios </a:t>
            </a:r>
            <a:b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</a:br>
            <a:r>
              <a:rPr lang="pt-BR" sz="40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do cérebro</a:t>
            </a:r>
            <a:endParaRPr sz="40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AFCCB8E8-FEC1-E93B-279F-448C01CBD5D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7C7C92B4-2B21-8C00-ACCF-4B43B4EF2B0F}"/>
              </a:ext>
            </a:extLst>
          </p:cNvPr>
          <p:cNvSpPr txBox="1"/>
          <p:nvPr/>
        </p:nvSpPr>
        <p:spPr>
          <a:xfrm>
            <a:off x="836030" y="7862685"/>
            <a:ext cx="1302747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Não é possível representar as organizações </a:t>
            </a:r>
            <a:r>
              <a:rPr lang="pt-BR" sz="4000" dirty="0" err="1">
                <a:solidFill>
                  <a:schemeClr val="bg1"/>
                </a:solidFill>
              </a:rPr>
              <a:t>caórdicas</a:t>
            </a:r>
            <a:r>
              <a:rPr lang="pt-BR" sz="4000" dirty="0">
                <a:solidFill>
                  <a:schemeClr val="bg1"/>
                </a:solidFill>
              </a:rPr>
              <a:t> em duas</a:t>
            </a:r>
          </a:p>
          <a:p>
            <a:r>
              <a:rPr lang="pt-BR" sz="4000" dirty="0">
                <a:solidFill>
                  <a:schemeClr val="bg1"/>
                </a:solidFill>
              </a:rPr>
              <a:t>dimensões ou no quadro sinóptico tradicional de uma</a:t>
            </a:r>
          </a:p>
          <a:p>
            <a:r>
              <a:rPr lang="pt-BR" sz="4000" dirty="0">
                <a:solidFill>
                  <a:schemeClr val="bg1"/>
                </a:solidFill>
              </a:rPr>
              <a:t>organização.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C68C14E0-0B4D-B364-B202-A844BD6D20C0}"/>
              </a:ext>
            </a:extLst>
          </p:cNvPr>
          <p:cNvSpPr txBox="1"/>
          <p:nvPr/>
        </p:nvSpPr>
        <p:spPr>
          <a:xfrm>
            <a:off x="1076619" y="914604"/>
            <a:ext cx="850386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pt-BR" sz="4000" dirty="0"/>
              <a:t>Significado do nome (Universalidade)</a:t>
            </a:r>
          </a:p>
          <a:p>
            <a:pPr marL="571500" indent="-571500">
              <a:buFontTx/>
              <a:buChar char="-"/>
            </a:pPr>
            <a:r>
              <a:rPr lang="pt-BR" sz="4000" dirty="0"/>
              <a:t>VISA – Visto – Ok – Viagem</a:t>
            </a:r>
          </a:p>
          <a:p>
            <a:pPr marL="571500" indent="-571500">
              <a:buFontTx/>
              <a:buChar char="-"/>
            </a:pPr>
            <a:r>
              <a:rPr lang="pt-BR" sz="4000" dirty="0"/>
              <a:t>O processo começa</a:t>
            </a:r>
          </a:p>
          <a:p>
            <a:pPr marL="571500" indent="-571500">
              <a:buFontTx/>
              <a:buChar char="-"/>
            </a:pPr>
            <a:r>
              <a:rPr lang="pt-BR" sz="4000" dirty="0"/>
              <a:t>O galardão da paciência</a:t>
            </a:r>
          </a:p>
        </p:txBody>
      </p:sp>
      <p:sp>
        <p:nvSpPr>
          <p:cNvPr id="80" name="object 71">
            <a:extLst>
              <a:ext uri="{FF2B5EF4-FFF2-40B4-BE49-F238E27FC236}">
                <a16:creationId xmlns:a16="http://schemas.microsoft.com/office/drawing/2014/main" id="{4692D957-3D56-E940-B9D4-D04CF12B5C2E}"/>
              </a:ext>
            </a:extLst>
          </p:cNvPr>
          <p:cNvSpPr/>
          <p:nvPr/>
        </p:nvSpPr>
        <p:spPr>
          <a:xfrm>
            <a:off x="5547574" y="7928485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E1CEB3CD-727B-A810-31FA-A462121ED8EC}"/>
              </a:ext>
            </a:extLst>
          </p:cNvPr>
          <p:cNvSpPr txBox="1"/>
          <p:nvPr/>
        </p:nvSpPr>
        <p:spPr>
          <a:xfrm>
            <a:off x="11591582" y="4671156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4000" b="0" i="0" u="none" strike="noStrike" baseline="0" dirty="0">
                <a:solidFill>
                  <a:schemeClr val="bg1"/>
                </a:solidFill>
                <a:latin typeface="Helvetica" panose="020B0604020202020204" pitchFamily="34" charset="0"/>
              </a:rPr>
              <a:t>Paciência</a:t>
            </a:r>
            <a:endParaRPr lang="pt-BR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22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5E29BF4-E40B-E162-AF7F-67DDDA2AB59C}"/>
              </a:ext>
            </a:extLst>
          </p:cNvPr>
          <p:cNvSpPr txBox="1"/>
          <p:nvPr/>
        </p:nvSpPr>
        <p:spPr>
          <a:xfrm>
            <a:off x="3297255" y="8566549"/>
            <a:ext cx="135095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solidFill>
                  <a:schemeClr val="bg1"/>
                </a:solidFill>
              </a:rPr>
              <a:t>Caórdicos</a:t>
            </a:r>
            <a:r>
              <a:rPr lang="pt-BR" sz="4000" dirty="0">
                <a:solidFill>
                  <a:schemeClr val="bg1"/>
                </a:solidFill>
              </a:rPr>
              <a:t> somos, </a:t>
            </a:r>
            <a:r>
              <a:rPr lang="pt-BR" sz="4000" dirty="0" err="1">
                <a:solidFill>
                  <a:schemeClr val="bg1"/>
                </a:solidFill>
              </a:rPr>
              <a:t>caórdicos</a:t>
            </a:r>
            <a:r>
              <a:rPr lang="pt-BR" sz="4000" dirty="0">
                <a:solidFill>
                  <a:schemeClr val="bg1"/>
                </a:solidFill>
              </a:rPr>
              <a:t> vamos continuar sendo,</a:t>
            </a:r>
          </a:p>
          <a:p>
            <a:r>
              <a:rPr lang="pt-BR" sz="4000" dirty="0" err="1">
                <a:solidFill>
                  <a:schemeClr val="bg1"/>
                </a:solidFill>
              </a:rPr>
              <a:t>caórdico</a:t>
            </a:r>
            <a:r>
              <a:rPr lang="pt-BR" sz="4000" dirty="0">
                <a:solidFill>
                  <a:schemeClr val="bg1"/>
                </a:solidFill>
              </a:rPr>
              <a:t> é o mundo e </a:t>
            </a:r>
            <a:r>
              <a:rPr lang="pt-BR" sz="4000" dirty="0" err="1">
                <a:solidFill>
                  <a:schemeClr val="bg1"/>
                </a:solidFill>
              </a:rPr>
              <a:t>caórdicas</a:t>
            </a:r>
            <a:r>
              <a:rPr lang="pt-BR" sz="4000" dirty="0">
                <a:solidFill>
                  <a:schemeClr val="bg1"/>
                </a:solidFill>
              </a:rPr>
              <a:t> as instituições devem se tornar.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121C-0353-C2AF-0F7A-8BB41F48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18DC216-6BF5-DCD2-50CB-CCFB7191B8E9}"/>
              </a:ext>
            </a:extLst>
          </p:cNvPr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271A33F-1534-6B6E-1D39-D8DC289F80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B28484E-9D7B-7116-BAB5-8EBB64B2B096}"/>
                </a:ext>
              </a:extLst>
            </p:cNvPr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81520E-3021-32ED-F3CE-FF27E682FEC5}"/>
                </a:ext>
              </a:extLst>
            </p:cNvPr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BD7F5B2-0269-35F1-A146-10F7D2A6E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A87BDA0-F879-5260-D2C8-49CF2F3D88BA}"/>
              </a:ext>
            </a:extLst>
          </p:cNvPr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4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AEE505F7-7D4A-7EF1-DE53-9149EB52016B}"/>
              </a:ext>
            </a:extLst>
          </p:cNvPr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AE065D9-0CEE-F14A-034A-9A3BC681EEB1}"/>
                </a:ext>
              </a:extLst>
            </p:cNvPr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2A744E25-0CBD-0E9D-D3CF-71DAF0F34CD9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9C3A66B-4AEC-8BDA-8877-BF5A39D5C1AB}"/>
              </a:ext>
            </a:extLst>
          </p:cNvPr>
          <p:cNvSpPr txBox="1"/>
          <p:nvPr/>
        </p:nvSpPr>
        <p:spPr>
          <a:xfrm>
            <a:off x="17367250" y="10691086"/>
            <a:ext cx="2466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Prof. Wellington Martins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12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2bd5af90-2c43-4f56-be08-340e2f91aafd"/>
    <ds:schemaRef ds:uri="http://schemas.openxmlformats.org/package/2006/metadata/core-properties"/>
    <ds:schemaRef ds:uri="b9c37b37-d0ad-42a5-892e-3cb8fae6311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</TotalTime>
  <Words>1168</Words>
  <Application>Microsoft Office PowerPoint</Application>
  <PresentationFormat>Personalizar</PresentationFormat>
  <Paragraphs>169</Paragraphs>
  <Slides>17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Montserrat ExtraBold</vt:lpstr>
      <vt:lpstr>Times-Roman</vt:lpstr>
      <vt:lpstr>Arial</vt:lpstr>
      <vt:lpstr>Aptos</vt:lpstr>
      <vt:lpstr>Calibri</vt:lpstr>
      <vt:lpstr>Helvetica</vt:lpstr>
      <vt:lpstr>Montserrat Light</vt:lpstr>
      <vt:lpstr>Montserrat</vt:lpstr>
      <vt:lpstr>Office Theme</vt:lpstr>
      <vt:lpstr>Apresentação do PowerPoint</vt:lpstr>
      <vt:lpstr>Apresentação do PowerPoint</vt:lpstr>
      <vt:lpstr>Apresentação do PowerPoint</vt:lpstr>
      <vt:lpstr>6 ELEMENTOS</vt:lpstr>
      <vt:lpstr>MISSÃO  SENAI – Promover o desenvolvimento sustentável do país, elevando a competitividade da indústria, por meio da educação profissional e da inovação e tecnologia.   Caórdico -------</vt:lpstr>
      <vt:lpstr>VISÃO</vt:lpstr>
      <vt:lpstr>6 ELEMENTOS</vt:lpstr>
      <vt:lpstr>TERMOS UTILIZADOS POR Dee Hock.</vt:lpstr>
      <vt:lpstr>TERMOS UTILIZADOS POR Dee Hock.</vt:lpstr>
      <vt:lpstr>TERMOS UTILIZADOS POR Dee Hock.</vt:lpstr>
      <vt:lpstr>TERMOS de Dee Hock LIDERANÇA</vt:lpstr>
      <vt:lpstr>TERMOS de Dee Hock TEMPO</vt:lpstr>
      <vt:lpstr>As organizações saudáveis induzem o comportamento. As organizações doentias o forçam</vt:lpstr>
      <vt:lpstr>Ego, a Inveja, a Avareza e a Ambição</vt:lpstr>
      <vt:lpstr>Elas são mais semelhantes à organização dos neurônios  do cérebro</vt:lpstr>
      <vt:lpstr>DEPARTAMENTO REGIONAL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chatgpt</cp:lastModifiedBy>
  <cp:revision>40</cp:revision>
  <dcterms:created xsi:type="dcterms:W3CDTF">2021-08-24T16:20:14Z</dcterms:created>
  <dcterms:modified xsi:type="dcterms:W3CDTF">2026-09-28T18:59:50Z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