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83" r:id="rId10"/>
    <p:sldId id="284" r:id="rId11"/>
    <p:sldId id="261" r:id="rId12"/>
    <p:sldId id="263" r:id="rId13"/>
    <p:sldId id="264" r:id="rId14"/>
    <p:sldId id="265" r:id="rId15"/>
    <p:sldId id="266" r:id="rId16"/>
    <p:sldId id="267" r:id="rId17"/>
    <p:sldId id="268" r:id="rId18"/>
    <p:sldId id="277" r:id="rId19"/>
  </p:sldIdLst>
  <p:sldSz cx="20104100" cy="11309350"/>
  <p:notesSz cx="20104100" cy="1130935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ExtraBold" panose="00000900000000000000" pitchFamily="2" charset="0"/>
      <p:bold r:id="rId24"/>
      <p:boldItalic r:id="rId25"/>
    </p:embeddedFont>
    <p:embeddedFont>
      <p:font typeface="Montserrat Light" panose="00000400000000000000" pitchFamily="2" charset="0"/>
      <p:regular r:id="rId26"/>
      <p:italic r:id="rId2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SENAI JAGUARIÚNA</a:t>
            </a:r>
            <a:endParaRPr lang="pt-BR" sz="4950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SEJAM TODOS BEM VINDOS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REDE DE UNIDADES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SENAI - SP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70632" y="9057316"/>
            <a:ext cx="0" cy="157099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Arquitetura de Redes com IOT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5400" b="1" dirty="0"/>
              <a:t>Modelos e Protocolos de Rede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026" name="Picture 2" descr="O que é a IoT (Internet das Coisas)? Significado e Exemplos">
            <a:extLst>
              <a:ext uri="{FF2B5EF4-FFF2-40B4-BE49-F238E27FC236}">
                <a16:creationId xmlns:a16="http://schemas.microsoft.com/office/drawing/2014/main" id="{B5623734-E85D-6468-6584-E80C3C9ED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0" y="3086411"/>
            <a:ext cx="10134600" cy="67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r>
              <a:rPr lang="pt-BR" b="1"/>
              <a:t>Modelos e Protocolos de Rede</a:t>
            </a:r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61629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AIOT – Modelos e Protocolos</a:t>
            </a:r>
            <a:b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</a:br>
            <a:endParaRPr sz="495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37" name="Espaço Reservado para Conteúdo 2">
            <a:extLst>
              <a:ext uri="{FF2B5EF4-FFF2-40B4-BE49-F238E27FC236}">
                <a16:creationId xmlns:a16="http://schemas.microsoft.com/office/drawing/2014/main" id="{01A687D6-6690-2508-5DF2-9B0A436CAD89}"/>
              </a:ext>
            </a:extLst>
          </p:cNvPr>
          <p:cNvSpPr>
            <a:spLocks noGrp="1"/>
          </p:cNvSpPr>
          <p:nvPr/>
        </p:nvSpPr>
        <p:spPr>
          <a:xfrm>
            <a:off x="1509065" y="3093393"/>
            <a:ext cx="11233677" cy="7560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Modelos e protocolo de redes</a:t>
            </a:r>
          </a:p>
          <a:p>
            <a:pPr lvl="1"/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2.1. Definição</a:t>
            </a:r>
          </a:p>
          <a:p>
            <a:pPr lvl="1"/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 Protocolo TCP/IP</a:t>
            </a:r>
          </a:p>
          <a:p>
            <a:pPr lvl="2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2.2.1.Definição</a:t>
            </a:r>
          </a:p>
          <a:p>
            <a:pPr lvl="2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2.2.2.Endereçamento de IPv4</a:t>
            </a:r>
          </a:p>
          <a:p>
            <a:pPr lvl="2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2.2.3.Endereçamento de IPv6</a:t>
            </a:r>
          </a:p>
          <a:p>
            <a:pPr lvl="2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2.2.4.Portas</a:t>
            </a:r>
          </a:p>
          <a:p>
            <a:pPr lvl="1"/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2.3. Protocolo MQTT (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Queuing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Telemetry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2.3.1.Definição</a:t>
            </a:r>
          </a:p>
          <a:p>
            <a:pPr lvl="2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2.3.2.Aplicação</a:t>
            </a:r>
          </a:p>
          <a:p>
            <a:pPr lvl="2"/>
            <a:endParaRPr lang="pt-BR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Espaço Reservado para Conteúdo 2">
            <a:extLst>
              <a:ext uri="{FF2B5EF4-FFF2-40B4-BE49-F238E27FC236}">
                <a16:creationId xmlns:a16="http://schemas.microsoft.com/office/drawing/2014/main" id="{7047D82D-3CB3-1FCE-E9EF-EBD1DB4BA6FD}"/>
              </a:ext>
            </a:extLst>
          </p:cNvPr>
          <p:cNvSpPr txBox="1">
            <a:spLocks/>
          </p:cNvSpPr>
          <p:nvPr/>
        </p:nvSpPr>
        <p:spPr>
          <a:xfrm>
            <a:off x="12711237" y="3124178"/>
            <a:ext cx="6289568" cy="5189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Equipamentos de rede</a:t>
            </a:r>
          </a:p>
          <a:p>
            <a:pPr lvl="1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 Roteador</a:t>
            </a:r>
          </a:p>
          <a:p>
            <a:pPr lvl="1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3.2. Switch</a:t>
            </a:r>
          </a:p>
          <a:p>
            <a:pPr lvl="1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3.3. Access Point</a:t>
            </a:r>
          </a:p>
          <a:p>
            <a:pPr lvl="1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3.4. Gateway</a:t>
            </a:r>
          </a:p>
          <a:p>
            <a:pPr lvl="1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3.5. Firewall</a:t>
            </a:r>
          </a:p>
          <a:p>
            <a:pPr lvl="2"/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7A04-DCFE-1A40-3418-D12BEEB4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A16169-AE32-1227-AF2A-EE48A13069BA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r>
              <a:rPr lang="pt-BR" b="1"/>
              <a:t>Modelos e Protocolos de Rede</a:t>
            </a:r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74F3E1E-4DA0-5D37-4EB8-E51D3217F4D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6CB8131-22E7-233E-F6B7-8A5C3686A9E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29FC8E-38C6-1695-9DC1-FF0BC48A428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D44BB6-4B58-493C-2D26-3CF2788297B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AF2047-7379-9491-E887-A7C3315A325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A932882-6C1E-0DB4-2C56-D7B0D8EEC12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A02CDD2-5321-4FDD-E999-BB7D055489EE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E5E851B-A37D-754D-E821-E1AC7324A51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D521BE2-5491-8DF9-F8CE-B8B097DE9F55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22341F4-401A-CAD1-07F6-D8D79175B92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6712FF3-FE90-A4BA-7D83-BE5ABA6875A9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C692797-DC52-B1CF-99BE-05A879B60F0A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4E02114-B829-8305-4255-B1935F2A2B20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6567E14-FE6F-F36F-ECF2-2987DEBCE93B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3A2F8E3-5C67-8F5A-BFC7-2FC3A7639EE1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4B6FB1F-5B24-EB7C-FF6E-13D49622E5DA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E2C64DF-146C-773B-73CA-D066409D0193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3F4B810-AF50-E23C-2C8C-96D20479E562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E5A865A-074A-0639-4DC4-9DED1372F00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C05F412-447C-A110-5559-93BAE0003D27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D9C49792-2A03-E3DF-DC06-28362602F23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D968DAF-3C9C-9C11-D3AE-31AF4FE6B378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1092D6E-54EC-801B-F9E9-4EDD7FA88C6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C5DCC13-61AB-9DE5-3D46-2AB5E2669BF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91471E3-0BF4-C1B8-907B-EAC59F7F593B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79020D4-8F70-F93B-CB23-B3AB0C8A434F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9699CA6-DD4D-7F64-4A74-19C50AB02D64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2A4E92B-AB19-6EF5-1325-AC2E3BDB3ACC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F70F8C1-8B60-731A-61B9-E8E54BACCCBD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EB678E0-B235-7694-4A52-9B2595BA1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61629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AIOT – Protocolo TCP/IP</a:t>
            </a:r>
            <a:b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</a:br>
            <a:endParaRPr sz="495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37" name="Espaço Reservado para Conteúdo 2">
            <a:extLst>
              <a:ext uri="{FF2B5EF4-FFF2-40B4-BE49-F238E27FC236}">
                <a16:creationId xmlns:a16="http://schemas.microsoft.com/office/drawing/2014/main" id="{D6705A65-425F-06FA-98B1-DD33D48F4D7C}"/>
              </a:ext>
            </a:extLst>
          </p:cNvPr>
          <p:cNvSpPr>
            <a:spLocks noGrp="1"/>
          </p:cNvSpPr>
          <p:nvPr/>
        </p:nvSpPr>
        <p:spPr>
          <a:xfrm>
            <a:off x="1509065" y="3093392"/>
            <a:ext cx="16239436" cy="76901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TCP (Protocolo de Controle de Transmissão) e o IP (Protocolo de Internet) são conjuntos de protocolos que visam a interconexão dos mais diversos dispositivos na internet. Ou seja, eles especificam como a comunicação deve ser feita dentro da rede.</a:t>
            </a:r>
          </a:p>
          <a:p>
            <a:pPr algn="just"/>
            <a:endParaRPr lang="pt-B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 falamos de TCP, nos referimos a algo que faz toda a definição de como aplicações conseguem criar canais de comunicação através da rede. Também auxilia na quebra em pedaços de uma mensagem que será posteriormente reconstruída antes de chegar a seu destino.</a:t>
            </a:r>
          </a:p>
          <a:p>
            <a:pPr algn="just"/>
            <a:endParaRPr lang="pt-B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dirty="0">
                <a:solidFill>
                  <a:schemeClr val="bg1"/>
                </a:solidFill>
              </a:rPr>
              <a:t>Em redes TCP/IP</a:t>
            </a:r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existem 4 camadas principais, duas delas são:</a:t>
            </a:r>
          </a:p>
          <a:p>
            <a:pPr lvl="1" algn="just"/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</a:t>
            </a:r>
          </a:p>
          <a:p>
            <a:pPr lvl="1" algn="just"/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 de internet e de Interface</a:t>
            </a:r>
            <a:endParaRPr lang="pt-BR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1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1B50-49E6-237F-1693-876D8E979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D740B4-375E-C307-DD7A-2A2EA762166A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r>
              <a:rPr lang="pt-BR" b="1"/>
              <a:t>Modelos e Protocolos de Rede</a:t>
            </a:r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B8D0A40-D328-9196-57C8-8B1061D1AFC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89DE312-5124-7E0C-6D8A-E08ED66D623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F23EF8-190A-D49F-781B-4049AED0EC4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F87C16C-DE23-6A4C-FE59-0E5D9A3C10A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6CB438-6C32-C313-77A1-914E10C11C2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63582B8-AEBF-8076-046F-A964FE28E8B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5433DBD-778F-3EFF-2921-6B8F1057791B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AB19E0A-4E04-5136-526C-4375E5B6C301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C879554-10FA-0F5A-AE78-00C9AE151864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754D2A8-FC26-9C34-3F49-B162209BD9D6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70B882B-8612-6CFD-C712-3F5CC5665CD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67470A9-4F9D-C453-F18D-EDA31DA14A2E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D92B651-E37B-E103-9354-B36657050E5B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4D96AD-89C5-A369-15DD-BE0475DF0096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89F41FB-0C38-416D-F204-E1D3FD0B6084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2E7B8053-CEA4-854D-5DE8-D0AD9D1D2FCC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56C7E74E-C9C4-D2F5-BDE9-ACB4CD8857AD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704496F-5CC3-4010-2352-23ABA3AC2615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C721D13-E097-0DAC-A8A2-038EA744217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EF05579-125E-ACB7-7A33-854CC738BBDE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95CDD00-7A69-AA84-56FB-6346F2C4AD37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A121840-90E0-4FF5-D47A-1F3F7F2EE86D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1B54E1F-689F-9853-3392-E068C03E40A7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297A46A-DE98-FD44-7C67-8EE33DF524C5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471645B-42A5-F3FA-F909-61A4E2882496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600E524-F440-C10B-A233-2C7A633D6B38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70140AF-4FAB-7262-0953-CD79938C13E3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8E3660DA-1F91-8EBF-41F8-30063B15ADE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D37C2CF-CC0A-02B9-9794-BA66E61D7C7E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CB5A545-C957-B796-F71D-32C1B0DAA7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61629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AIOT – Endereço  IP</a:t>
            </a:r>
            <a:b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</a:br>
            <a:endParaRPr sz="495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37" name="Espaço Reservado para Conteúdo 2">
            <a:extLst>
              <a:ext uri="{FF2B5EF4-FFF2-40B4-BE49-F238E27FC236}">
                <a16:creationId xmlns:a16="http://schemas.microsoft.com/office/drawing/2014/main" id="{7E4BDD2A-BE0C-5428-0700-A8931260BDA4}"/>
              </a:ext>
            </a:extLst>
          </p:cNvPr>
          <p:cNvSpPr>
            <a:spLocks noGrp="1"/>
          </p:cNvSpPr>
          <p:nvPr/>
        </p:nvSpPr>
        <p:spPr>
          <a:xfrm>
            <a:off x="1509065" y="3093392"/>
            <a:ext cx="16239436" cy="7690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 o IP é o que define o endereço e o caminho do pacote de dados, ou seja, ele garante que as informações cheguem a seu destino correto. Ele é basicamente o “carteiro”, que recebe o item e o checa para ter certeza de que estará no local de seu objetivo.</a:t>
            </a:r>
          </a:p>
        </p:txBody>
      </p:sp>
    </p:spTree>
    <p:extLst>
      <p:ext uri="{BB962C8B-B14F-4D97-AF65-F5344CB8AC3E}">
        <p14:creationId xmlns:p14="http://schemas.microsoft.com/office/powerpoint/2010/main" val="396146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808063" cy="228203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IPv4 – Classes e seus valores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br>
              <a:rPr lang="pt-BR" sz="4000" dirty="0">
                <a:solidFill>
                  <a:schemeClr val="tx1"/>
                </a:solidFill>
              </a:rPr>
            </a:br>
            <a:endParaRPr sz="495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9EF2BE8-22C1-395B-0EB5-4473834707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410"/>
          <a:stretch/>
        </p:blipFill>
        <p:spPr>
          <a:xfrm>
            <a:off x="9476771" y="4508356"/>
            <a:ext cx="8542985" cy="5066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417" cy="11308973"/>
            <a:chOff x="0" y="0"/>
            <a:chExt cx="20104417" cy="11308973"/>
          </a:xfrm>
        </p:grpSpPr>
        <p:sp>
          <p:nvSpPr>
            <p:cNvPr id="3" name="object 3"/>
            <p:cNvSpPr/>
            <p:nvPr/>
          </p:nvSpPr>
          <p:spPr>
            <a:xfrm>
              <a:off x="0" y="11151493"/>
              <a:ext cx="12565380" cy="157480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65062" y="0"/>
              <a:ext cx="7539355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29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759" y="9004966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93737" y="7264054"/>
            <a:ext cx="9837420" cy="10252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915"/>
              </a:lnSpc>
              <a:spcBef>
                <a:spcPts val="95"/>
              </a:spcBef>
            </a:pPr>
            <a:r>
              <a:rPr lang="pt-BR" sz="66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IPv4 - Máscara</a:t>
            </a:r>
            <a:endParaRPr sz="6600" dirty="0">
              <a:latin typeface="Montserrat"/>
              <a:cs typeface="Montserra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17973" y="3239430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9B0FFF3-E8AD-507A-F934-61363F8C3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47" y="665522"/>
            <a:ext cx="13306784" cy="5719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868656" y="0"/>
            <a:ext cx="5235575" cy="5235575"/>
          </a:xfrm>
          <a:custGeom>
            <a:avLst/>
            <a:gdLst/>
            <a:ahLst/>
            <a:cxnLst/>
            <a:rect l="l" t="t" r="r" b="b"/>
            <a:pathLst>
              <a:path w="5235575" h="5235575">
                <a:moveTo>
                  <a:pt x="5235442" y="0"/>
                </a:moveTo>
                <a:lnTo>
                  <a:pt x="0" y="0"/>
                </a:lnTo>
                <a:lnTo>
                  <a:pt x="0" y="5235442"/>
                </a:lnTo>
                <a:lnTo>
                  <a:pt x="5235442" y="5235442"/>
                </a:lnTo>
                <a:lnTo>
                  <a:pt x="5235442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66428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528201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89973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66428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528201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89973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66428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528201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789973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28201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789973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66428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789973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0" y="0"/>
            <a:ext cx="19842327" cy="11308556"/>
            <a:chOff x="0" y="0"/>
            <a:chExt cx="19842327" cy="11308556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868657" cy="113085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7316" y="261772"/>
              <a:ext cx="10785011" cy="1078501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842632" y="1047088"/>
              <a:ext cx="9214485" cy="3769387"/>
            </a:xfrm>
            <a:custGeom>
              <a:avLst/>
              <a:gdLst/>
              <a:ahLst/>
              <a:cxnLst/>
              <a:rect l="l" t="t" r="r" b="b"/>
              <a:pathLst>
                <a:path w="9214485" h="9214485">
                  <a:moveTo>
                    <a:pt x="9214379" y="0"/>
                  </a:moveTo>
                  <a:lnTo>
                    <a:pt x="0" y="0"/>
                  </a:lnTo>
                  <a:lnTo>
                    <a:pt x="0" y="9214379"/>
                  </a:lnTo>
                  <a:lnTo>
                    <a:pt x="9214379" y="9214379"/>
                  </a:lnTo>
                  <a:lnTo>
                    <a:pt x="9214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0" y="3791079"/>
            <a:ext cx="20104100" cy="7517765"/>
            <a:chOff x="0" y="3791079"/>
            <a:chExt cx="20104100" cy="7517765"/>
          </a:xfrm>
        </p:grpSpPr>
        <p:sp>
          <p:nvSpPr>
            <p:cNvPr id="34" name="object 34"/>
            <p:cNvSpPr/>
            <p:nvPr/>
          </p:nvSpPr>
          <p:spPr>
            <a:xfrm>
              <a:off x="8795543" y="38067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877020" y="2660401"/>
            <a:ext cx="7938030" cy="7405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47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Exemplos</a:t>
            </a:r>
            <a:endParaRPr sz="4700" dirty="0">
              <a:latin typeface="Montserrat ExtraBold"/>
              <a:cs typeface="Montserrat ExtraBold"/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BDE1E6B7-2FCE-E97F-7F7C-52A1D637D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926" y="808994"/>
            <a:ext cx="8087210" cy="8143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0" y="4877004"/>
            <a:ext cx="20104100" cy="6431968"/>
            <a:chOff x="0" y="4877004"/>
            <a:chExt cx="20104100" cy="6431968"/>
          </a:xfrm>
        </p:grpSpPr>
        <p:sp>
          <p:nvSpPr>
            <p:cNvPr id="29" name="object 29"/>
            <p:cNvSpPr/>
            <p:nvPr/>
          </p:nvSpPr>
          <p:spPr>
            <a:xfrm>
              <a:off x="9004961" y="4877004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099191" y="3338530"/>
            <a:ext cx="7865109" cy="72692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lang="pt-BR" sz="3600" b="0" spc="15" dirty="0">
                <a:latin typeface="Montserrat Light"/>
                <a:cs typeface="Montserrat Light"/>
              </a:rPr>
              <a:t>IPv6 é um rótulo numérico que identifica e localiza a interface de rede de um computador. Os endereços IPv6 têm 128 bits, representados por oito grupos de quatro dígitos. Isso permite mais de 340 </a:t>
            </a:r>
            <a:r>
              <a:rPr lang="pt-BR" sz="3600" b="0" spc="15" dirty="0" err="1">
                <a:latin typeface="Montserrat Light"/>
                <a:cs typeface="Montserrat Light"/>
              </a:rPr>
              <a:t>undecilhões</a:t>
            </a:r>
            <a:r>
              <a:rPr lang="pt-BR" sz="3600" b="0" spc="15" dirty="0">
                <a:latin typeface="Montserrat Light"/>
                <a:cs typeface="Montserrat Light"/>
              </a:rPr>
              <a:t> de endereços, o que é cerca de 75 trilhões a mais que o IPv4, um exemplo:</a:t>
            </a: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endParaRPr lang="pt-BR" sz="3600" b="0" spc="15" dirty="0">
              <a:latin typeface="Montserrat Light"/>
              <a:cs typeface="Montserrat Light"/>
            </a:endParaRP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lang="pt-BR" sz="3600" b="0" spc="15" dirty="0">
                <a:latin typeface="Montserrat Light"/>
                <a:cs typeface="Montserrat Light"/>
              </a:rPr>
              <a:t>0000</a:t>
            </a: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lang="pt-BR" sz="3600" b="0" spc="15" dirty="0">
                <a:latin typeface="Montserrat Light"/>
                <a:cs typeface="Montserrat Light"/>
              </a:rPr>
              <a:t>0000</a:t>
            </a: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lang="pt-BR" sz="3600" b="0" spc="15" dirty="0">
                <a:latin typeface="Montserrat Light"/>
                <a:cs typeface="Montserrat Light"/>
              </a:rPr>
              <a:t>FFFF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AIOT – IPv6</a:t>
            </a:r>
            <a:endParaRPr spc="-25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40EE3CF6-B061-FBB4-37AA-FA49D85C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76" y="5645001"/>
            <a:ext cx="9714812" cy="3661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72" y="0"/>
            <a:ext cx="7329619" cy="5758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387239" y="0"/>
            <a:ext cx="13455650" cy="575945"/>
            <a:chOff x="6387239" y="0"/>
            <a:chExt cx="13455650" cy="5759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0"/>
              <a:ext cx="7329619" cy="5758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0"/>
              <a:ext cx="7329619" cy="57589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0" y="4877009"/>
            <a:ext cx="20104100" cy="6431963"/>
            <a:chOff x="0" y="4877009"/>
            <a:chExt cx="20104100" cy="6431963"/>
          </a:xfrm>
        </p:grpSpPr>
        <p:sp>
          <p:nvSpPr>
            <p:cNvPr id="33" name="object 33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77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76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33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04961" y="4877009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AIOT – IPv6</a:t>
            </a:r>
            <a:endParaRPr spc="-25" dirty="0">
              <a:solidFill>
                <a:srgbClr val="FFFFFF"/>
              </a:solidFill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F9FADAAA-E496-3D5F-F990-D12CA51C9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0" y="3542892"/>
            <a:ext cx="10551951" cy="45382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65062" y="0"/>
            <a:ext cx="7539355" cy="11151870"/>
          </a:xfrm>
          <a:custGeom>
            <a:avLst/>
            <a:gdLst/>
            <a:ahLst/>
            <a:cxnLst/>
            <a:rect l="l" t="t" r="r" b="b"/>
            <a:pathLst>
              <a:path w="7539355" h="1115187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47088" y="9319087"/>
            <a:ext cx="3693160" cy="942975"/>
            <a:chOff x="1047088" y="9319087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047151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369295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55" y="942379"/>
                  </a:lnTo>
                  <a:lnTo>
                    <a:pt x="369295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7076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60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60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60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60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60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60" h="700404">
                  <a:moveTo>
                    <a:pt x="908532" y="161366"/>
                  </a:moveTo>
                  <a:lnTo>
                    <a:pt x="905624" y="119291"/>
                  </a:lnTo>
                  <a:lnTo>
                    <a:pt x="870216" y="56515"/>
                  </a:lnTo>
                  <a:lnTo>
                    <a:pt x="804735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59" y="1714"/>
                  </a:lnTo>
                  <a:lnTo>
                    <a:pt x="580986" y="7264"/>
                  </a:lnTo>
                  <a:lnTo>
                    <a:pt x="535622" y="17233"/>
                  </a:lnTo>
                  <a:lnTo>
                    <a:pt x="492493" y="32219"/>
                  </a:lnTo>
                  <a:lnTo>
                    <a:pt x="452564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41" y="202895"/>
                  </a:lnTo>
                  <a:lnTo>
                    <a:pt x="339204" y="254914"/>
                  </a:lnTo>
                  <a:lnTo>
                    <a:pt x="348361" y="300837"/>
                  </a:lnTo>
                  <a:lnTo>
                    <a:pt x="371957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62" y="451904"/>
                  </a:lnTo>
                  <a:lnTo>
                    <a:pt x="665543" y="473189"/>
                  </a:lnTo>
                  <a:lnTo>
                    <a:pt x="665505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806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13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43" y="527735"/>
                  </a:lnTo>
                  <a:lnTo>
                    <a:pt x="274370" y="574230"/>
                  </a:lnTo>
                  <a:lnTo>
                    <a:pt x="289229" y="612101"/>
                  </a:lnTo>
                  <a:lnTo>
                    <a:pt x="312877" y="642086"/>
                  </a:lnTo>
                  <a:lnTo>
                    <a:pt x="344220" y="664946"/>
                  </a:lnTo>
                  <a:lnTo>
                    <a:pt x="382130" y="681431"/>
                  </a:lnTo>
                  <a:lnTo>
                    <a:pt x="425475" y="692277"/>
                  </a:lnTo>
                  <a:lnTo>
                    <a:pt x="473163" y="698233"/>
                  </a:lnTo>
                  <a:lnTo>
                    <a:pt x="524065" y="700049"/>
                  </a:lnTo>
                  <a:lnTo>
                    <a:pt x="575640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20" y="659612"/>
                  </a:lnTo>
                  <a:lnTo>
                    <a:pt x="760679" y="636625"/>
                  </a:lnTo>
                  <a:lnTo>
                    <a:pt x="796594" y="608368"/>
                  </a:lnTo>
                  <a:lnTo>
                    <a:pt x="826350" y="574789"/>
                  </a:lnTo>
                  <a:lnTo>
                    <a:pt x="848969" y="535825"/>
                  </a:lnTo>
                  <a:lnTo>
                    <a:pt x="863409" y="491413"/>
                  </a:lnTo>
                  <a:lnTo>
                    <a:pt x="869188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93" y="314401"/>
                  </a:lnTo>
                  <a:lnTo>
                    <a:pt x="749401" y="299821"/>
                  </a:lnTo>
                  <a:lnTo>
                    <a:pt x="710374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211" y="222923"/>
                  </a:lnTo>
                  <a:lnTo>
                    <a:pt x="541718" y="191719"/>
                  </a:lnTo>
                  <a:lnTo>
                    <a:pt x="553250" y="167982"/>
                  </a:lnTo>
                  <a:lnTo>
                    <a:pt x="574878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407" y="192938"/>
                  </a:lnTo>
                  <a:lnTo>
                    <a:pt x="713600" y="211264"/>
                  </a:lnTo>
                  <a:lnTo>
                    <a:pt x="899718" y="211264"/>
                  </a:lnTo>
                  <a:lnTo>
                    <a:pt x="908532" y="161366"/>
                  </a:lnTo>
                  <a:close/>
                </a:path>
                <a:path w="3693160" h="700404">
                  <a:moveTo>
                    <a:pt x="1580984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48" y="685939"/>
                  </a:lnTo>
                  <a:lnTo>
                    <a:pt x="1465910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88" y="413207"/>
                  </a:lnTo>
                  <a:lnTo>
                    <a:pt x="1497698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35" y="144246"/>
                  </a:lnTo>
                  <a:lnTo>
                    <a:pt x="1580984" y="13944"/>
                  </a:lnTo>
                  <a:close/>
                </a:path>
                <a:path w="3693160" h="700404">
                  <a:moveTo>
                    <a:pt x="2341359" y="13944"/>
                  </a:moveTo>
                  <a:lnTo>
                    <a:pt x="2173846" y="13944"/>
                  </a:lnTo>
                  <a:lnTo>
                    <a:pt x="2067737" y="512787"/>
                  </a:lnTo>
                  <a:lnTo>
                    <a:pt x="2065578" y="514692"/>
                  </a:lnTo>
                  <a:lnTo>
                    <a:pt x="1984095" y="171284"/>
                  </a:lnTo>
                  <a:lnTo>
                    <a:pt x="1946757" y="13944"/>
                  </a:lnTo>
                  <a:lnTo>
                    <a:pt x="1686153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202" y="171284"/>
                  </a:lnTo>
                  <a:lnTo>
                    <a:pt x="1822056" y="171284"/>
                  </a:lnTo>
                  <a:lnTo>
                    <a:pt x="1940699" y="685939"/>
                  </a:lnTo>
                  <a:lnTo>
                    <a:pt x="2198522" y="685939"/>
                  </a:lnTo>
                  <a:lnTo>
                    <a:pt x="2234920" y="514692"/>
                  </a:lnTo>
                  <a:lnTo>
                    <a:pt x="2341359" y="13944"/>
                  </a:lnTo>
                  <a:close/>
                </a:path>
                <a:path w="3693160" h="700404">
                  <a:moveTo>
                    <a:pt x="3024975" y="685939"/>
                  </a:moveTo>
                  <a:lnTo>
                    <a:pt x="3001073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97" y="13944"/>
                  </a:lnTo>
                  <a:lnTo>
                    <a:pt x="2779903" y="13944"/>
                  </a:lnTo>
                  <a:lnTo>
                    <a:pt x="2779903" y="424408"/>
                  </a:lnTo>
                  <a:lnTo>
                    <a:pt x="2600274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903" y="424408"/>
                  </a:lnTo>
                  <a:lnTo>
                    <a:pt x="2779903" y="13944"/>
                  </a:lnTo>
                  <a:lnTo>
                    <a:pt x="2675483" y="13944"/>
                  </a:lnTo>
                  <a:lnTo>
                    <a:pt x="2267369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75" y="685939"/>
                  </a:lnTo>
                  <a:close/>
                </a:path>
                <a:path w="3693160" h="700404">
                  <a:moveTo>
                    <a:pt x="3424682" y="13944"/>
                  </a:moveTo>
                  <a:lnTo>
                    <a:pt x="3238550" y="13944"/>
                  </a:lnTo>
                  <a:lnTo>
                    <a:pt x="3095675" y="685939"/>
                  </a:lnTo>
                  <a:lnTo>
                    <a:pt x="3281845" y="685939"/>
                  </a:lnTo>
                  <a:lnTo>
                    <a:pt x="3424682" y="13944"/>
                  </a:lnTo>
                  <a:close/>
                </a:path>
                <a:path w="3693160" h="700404">
                  <a:moveTo>
                    <a:pt x="3692931" y="660984"/>
                  </a:moveTo>
                  <a:lnTo>
                    <a:pt x="3494582" y="660984"/>
                  </a:lnTo>
                  <a:lnTo>
                    <a:pt x="3494582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60" h="700404">
                  <a:moveTo>
                    <a:pt x="3692931" y="502246"/>
                  </a:moveTo>
                  <a:lnTo>
                    <a:pt x="3494582" y="502246"/>
                  </a:lnTo>
                  <a:lnTo>
                    <a:pt x="3494582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60" h="700404">
                  <a:moveTo>
                    <a:pt x="3692931" y="337553"/>
                  </a:moveTo>
                  <a:lnTo>
                    <a:pt x="3494582" y="337553"/>
                  </a:lnTo>
                  <a:lnTo>
                    <a:pt x="3494582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60" h="700404">
                  <a:moveTo>
                    <a:pt x="3692931" y="175056"/>
                  </a:moveTo>
                  <a:lnTo>
                    <a:pt x="3494582" y="175056"/>
                  </a:lnTo>
                  <a:lnTo>
                    <a:pt x="3494582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60" h="700404">
                  <a:moveTo>
                    <a:pt x="3692931" y="16802"/>
                  </a:moveTo>
                  <a:lnTo>
                    <a:pt x="3494582" y="16802"/>
                  </a:lnTo>
                  <a:lnTo>
                    <a:pt x="3494582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1853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853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1853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8030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8030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8030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94207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94207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4207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0384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0384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0384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46561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6561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6561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2739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72739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2739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98916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98916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8916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25093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25093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25093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40104" y="301717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1765" y="1780176"/>
            <a:ext cx="5354107" cy="11150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1900">
              <a:lnSpc>
                <a:spcPts val="4255"/>
              </a:lnSpc>
              <a:spcBef>
                <a:spcPts val="95"/>
              </a:spcBef>
            </a:pPr>
            <a:r>
              <a:rPr lang="pt-BR" sz="3600" b="1" dirty="0"/>
              <a:t>IPv6 – ADOÇÃO MUNDIAL</a:t>
            </a:r>
            <a:endParaRPr lang="pt-BR" sz="3550" b="1" dirty="0">
              <a:latin typeface="Montserrat ExtraBold"/>
              <a:cs typeface="Montserrat ExtraBold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6B9819B3-15CD-2A71-8414-1A23E1AFB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592" y="3544127"/>
            <a:ext cx="10773845" cy="71184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0" y="0"/>
            <a:ext cx="14314169" cy="11308715"/>
            <a:chOff x="0" y="0"/>
            <a:chExt cx="14314169" cy="11308715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5301852" y="4166225"/>
            <a:ext cx="10448290" cy="14048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9050" spc="10" dirty="0">
                <a:solidFill>
                  <a:srgbClr val="FFFFFF"/>
                </a:solidFill>
              </a:rPr>
              <a:t>AIOT – Protocolos</a:t>
            </a:r>
            <a:endParaRPr sz="905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 dirty="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390</Words>
  <Application>Microsoft Office PowerPoint</Application>
  <PresentationFormat>Personalizar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Calibri</vt:lpstr>
      <vt:lpstr>Arial</vt:lpstr>
      <vt:lpstr>Montserrat Light</vt:lpstr>
      <vt:lpstr>Montserrat ExtraBold</vt:lpstr>
      <vt:lpstr>Montserrat</vt:lpstr>
      <vt:lpstr>Office Theme</vt:lpstr>
      <vt:lpstr>Apresentação do PowerPoint</vt:lpstr>
      <vt:lpstr>Apresentação do PowerPoint</vt:lpstr>
      <vt:lpstr>REDE DE UNIDADES  SENAI - SP</vt:lpstr>
      <vt:lpstr>Arquitetura de Redes com IOT  Modelos e Protocolos de Rede</vt:lpstr>
      <vt:lpstr>AIOT – Modelos e Protocolos </vt:lpstr>
      <vt:lpstr>AIOT – Protocolo TCP/IP </vt:lpstr>
      <vt:lpstr>AIOT – Endereço  IP </vt:lpstr>
      <vt:lpstr>IPv4 – Classes e seus valores  </vt:lpstr>
      <vt:lpstr>Apresentação do PowerPoint</vt:lpstr>
      <vt:lpstr>Apresentação do PowerPoint</vt:lpstr>
      <vt:lpstr>AIOT – IPv6</vt:lpstr>
      <vt:lpstr>AIOT – IPv6</vt:lpstr>
      <vt:lpstr>IPv6 – ADOÇÃO MUNDIAL</vt:lpstr>
      <vt:lpstr>AIOT – Protocolos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Wellington Fabio de Oliveira Martins</cp:lastModifiedBy>
  <cp:revision>33</cp:revision>
  <dcterms:created xsi:type="dcterms:W3CDTF">2021-08-24T16:20:14Z</dcterms:created>
  <dcterms:modified xsi:type="dcterms:W3CDTF">2026-03-26T10:36:22Z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